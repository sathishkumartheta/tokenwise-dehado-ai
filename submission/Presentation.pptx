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72" r:id="rId11"/>
    <p:sldId id="264" r:id="rId12"/>
    <p:sldId id="274" r:id="rId13"/>
    <p:sldId id="268" r:id="rId14"/>
    <p:sldId id="265" r:id="rId15"/>
    <p:sldId id="267" r:id="rId16"/>
    <p:sldId id="266" r:id="rId17"/>
    <p:sldId id="273" r:id="rId18"/>
    <p:sldId id="275" r:id="rId19"/>
    <p:sldId id="26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466B"/>
    <a:srgbClr val="1F4E79"/>
    <a:srgbClr val="FFFEF9"/>
    <a:srgbClr val="8BADDE"/>
    <a:srgbClr val="5B9BD5"/>
    <a:srgbClr val="89AEDB"/>
    <a:srgbClr val="3D64A0"/>
    <a:srgbClr val="DE7428"/>
    <a:srgbClr val="3C649F"/>
    <a:srgbClr val="4A7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1" autoAdjust="0"/>
    <p:restoredTop sz="94660"/>
  </p:normalViewPr>
  <p:slideViewPr>
    <p:cSldViewPr snapToGrid="0">
      <p:cViewPr varScale="1">
        <p:scale>
          <a:sx n="79" d="100"/>
          <a:sy n="79" d="100"/>
        </p:scale>
        <p:origin x="9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Nextstep\MLChallenge\DeHaDo_AI\ToUpload\ToUpload\yolotrainingresults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yolotrainingresults!$C$1</c:f>
              <c:strCache>
                <c:ptCount val="1"/>
                <c:pt idx="0">
                  <c:v>train/box_loss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yolotrainingresults!$A$2:$A$51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xVal>
          <c:yVal>
            <c:numRef>
              <c:f>yolotrainingresults!$C$2:$C$51</c:f>
              <c:numCache>
                <c:formatCode>General</c:formatCode>
                <c:ptCount val="50"/>
                <c:pt idx="0">
                  <c:v>2.1082399999999999</c:v>
                </c:pt>
                <c:pt idx="1">
                  <c:v>1.60215</c:v>
                </c:pt>
                <c:pt idx="2">
                  <c:v>1.56382</c:v>
                </c:pt>
                <c:pt idx="3">
                  <c:v>1.5727599999999999</c:v>
                </c:pt>
                <c:pt idx="4">
                  <c:v>1.53806</c:v>
                </c:pt>
                <c:pt idx="5">
                  <c:v>1.5072700000000001</c:v>
                </c:pt>
                <c:pt idx="6">
                  <c:v>1.48868</c:v>
                </c:pt>
                <c:pt idx="7">
                  <c:v>1.4878899999999999</c:v>
                </c:pt>
                <c:pt idx="8">
                  <c:v>1.46665</c:v>
                </c:pt>
                <c:pt idx="9">
                  <c:v>1.4710099999999999</c:v>
                </c:pt>
                <c:pt idx="10">
                  <c:v>1.45428</c:v>
                </c:pt>
                <c:pt idx="11">
                  <c:v>1.4535899999999999</c:v>
                </c:pt>
                <c:pt idx="12">
                  <c:v>1.4295899999999999</c:v>
                </c:pt>
                <c:pt idx="13">
                  <c:v>1.4459299999999999</c:v>
                </c:pt>
                <c:pt idx="14">
                  <c:v>1.41774</c:v>
                </c:pt>
                <c:pt idx="15">
                  <c:v>1.4288000000000001</c:v>
                </c:pt>
                <c:pt idx="16">
                  <c:v>1.4165399999999999</c:v>
                </c:pt>
                <c:pt idx="17">
                  <c:v>1.4129100000000001</c:v>
                </c:pt>
                <c:pt idx="18">
                  <c:v>1.40038</c:v>
                </c:pt>
                <c:pt idx="19">
                  <c:v>1.3912800000000001</c:v>
                </c:pt>
                <c:pt idx="20">
                  <c:v>1.38252</c:v>
                </c:pt>
                <c:pt idx="21">
                  <c:v>1.3787</c:v>
                </c:pt>
                <c:pt idx="22">
                  <c:v>1.37015</c:v>
                </c:pt>
                <c:pt idx="23">
                  <c:v>1.3652899999999999</c:v>
                </c:pt>
                <c:pt idx="24">
                  <c:v>1.3683799999999999</c:v>
                </c:pt>
                <c:pt idx="25">
                  <c:v>1.33378</c:v>
                </c:pt>
                <c:pt idx="26">
                  <c:v>1.3346899999999999</c:v>
                </c:pt>
                <c:pt idx="27">
                  <c:v>1.34182</c:v>
                </c:pt>
                <c:pt idx="28">
                  <c:v>1.33175</c:v>
                </c:pt>
                <c:pt idx="29">
                  <c:v>1.3166</c:v>
                </c:pt>
                <c:pt idx="30">
                  <c:v>1.32233</c:v>
                </c:pt>
                <c:pt idx="31">
                  <c:v>1.30199</c:v>
                </c:pt>
                <c:pt idx="32">
                  <c:v>1.3028</c:v>
                </c:pt>
                <c:pt idx="33">
                  <c:v>1.2779199999999999</c:v>
                </c:pt>
                <c:pt idx="34">
                  <c:v>1.2829600000000001</c:v>
                </c:pt>
                <c:pt idx="35">
                  <c:v>1.2846</c:v>
                </c:pt>
                <c:pt idx="36">
                  <c:v>1.28308</c:v>
                </c:pt>
                <c:pt idx="37">
                  <c:v>1.28183</c:v>
                </c:pt>
                <c:pt idx="38">
                  <c:v>1.2729600000000001</c:v>
                </c:pt>
                <c:pt idx="39">
                  <c:v>1.2579899999999999</c:v>
                </c:pt>
                <c:pt idx="40">
                  <c:v>1.2523899999999999</c:v>
                </c:pt>
                <c:pt idx="41">
                  <c:v>1.24048</c:v>
                </c:pt>
                <c:pt idx="42">
                  <c:v>1.2247399999999999</c:v>
                </c:pt>
                <c:pt idx="43">
                  <c:v>1.2168300000000001</c:v>
                </c:pt>
                <c:pt idx="44">
                  <c:v>1.2045300000000001</c:v>
                </c:pt>
                <c:pt idx="45">
                  <c:v>1.2090799999999999</c:v>
                </c:pt>
                <c:pt idx="46">
                  <c:v>1.2029700000000001</c:v>
                </c:pt>
                <c:pt idx="47">
                  <c:v>1.1883300000000001</c:v>
                </c:pt>
                <c:pt idx="48">
                  <c:v>1.1802999999999999</c:v>
                </c:pt>
                <c:pt idx="49">
                  <c:v>1.16517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740-4406-9F3E-727CF1020690}"/>
            </c:ext>
          </c:extLst>
        </c:ser>
        <c:ser>
          <c:idx val="1"/>
          <c:order val="1"/>
          <c:tx>
            <c:strRef>
              <c:f>yolotrainingresults!$J$1</c:f>
              <c:strCache>
                <c:ptCount val="1"/>
                <c:pt idx="0">
                  <c:v>val/box_loss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yolotrainingresults!$A$2:$A$51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xVal>
          <c:yVal>
            <c:numRef>
              <c:f>yolotrainingresults!$J$2:$J$51</c:f>
              <c:numCache>
                <c:formatCode>General</c:formatCode>
                <c:ptCount val="50"/>
                <c:pt idx="0">
                  <c:v>1.68133</c:v>
                </c:pt>
                <c:pt idx="1">
                  <c:v>1.58388</c:v>
                </c:pt>
                <c:pt idx="2">
                  <c:v>1.5939099999999999</c:v>
                </c:pt>
                <c:pt idx="3">
                  <c:v>1.5428500000000001</c:v>
                </c:pt>
                <c:pt idx="4">
                  <c:v>1.53803</c:v>
                </c:pt>
                <c:pt idx="5">
                  <c:v>1.55088</c:v>
                </c:pt>
                <c:pt idx="6">
                  <c:v>1.5863700000000001</c:v>
                </c:pt>
                <c:pt idx="7">
                  <c:v>1.4911700000000001</c:v>
                </c:pt>
                <c:pt idx="8">
                  <c:v>1.5194700000000001</c:v>
                </c:pt>
                <c:pt idx="9">
                  <c:v>1.49881</c:v>
                </c:pt>
                <c:pt idx="10">
                  <c:v>1.4906699999999999</c:v>
                </c:pt>
                <c:pt idx="11">
                  <c:v>1.4835700000000001</c:v>
                </c:pt>
                <c:pt idx="12">
                  <c:v>1.48377</c:v>
                </c:pt>
                <c:pt idx="13">
                  <c:v>1.4596</c:v>
                </c:pt>
                <c:pt idx="14">
                  <c:v>1.4465300000000001</c:v>
                </c:pt>
                <c:pt idx="15">
                  <c:v>1.4879100000000001</c:v>
                </c:pt>
                <c:pt idx="16">
                  <c:v>1.4590399999999999</c:v>
                </c:pt>
                <c:pt idx="17">
                  <c:v>1.42903</c:v>
                </c:pt>
                <c:pt idx="18">
                  <c:v>1.4976400000000001</c:v>
                </c:pt>
                <c:pt idx="19">
                  <c:v>1.4438</c:v>
                </c:pt>
                <c:pt idx="20">
                  <c:v>1.5338799999999999</c:v>
                </c:pt>
                <c:pt idx="21">
                  <c:v>1.4656400000000001</c:v>
                </c:pt>
                <c:pt idx="22">
                  <c:v>1.38087</c:v>
                </c:pt>
                <c:pt idx="23">
                  <c:v>1.3513299999999999</c:v>
                </c:pt>
                <c:pt idx="24">
                  <c:v>1.4383300000000001</c:v>
                </c:pt>
                <c:pt idx="25">
                  <c:v>1.3952199999999999</c:v>
                </c:pt>
                <c:pt idx="26">
                  <c:v>1.35511</c:v>
                </c:pt>
                <c:pt idx="27">
                  <c:v>1.36788</c:v>
                </c:pt>
                <c:pt idx="28">
                  <c:v>1.3248800000000001</c:v>
                </c:pt>
                <c:pt idx="29">
                  <c:v>1.3258700000000001</c:v>
                </c:pt>
                <c:pt idx="30">
                  <c:v>1.3969499999999999</c:v>
                </c:pt>
                <c:pt idx="31">
                  <c:v>1.42374</c:v>
                </c:pt>
                <c:pt idx="32">
                  <c:v>1.3292600000000001</c:v>
                </c:pt>
                <c:pt idx="33">
                  <c:v>1.2728299999999999</c:v>
                </c:pt>
                <c:pt idx="34">
                  <c:v>1.3034600000000001</c:v>
                </c:pt>
                <c:pt idx="35">
                  <c:v>1.2952900000000001</c:v>
                </c:pt>
                <c:pt idx="36">
                  <c:v>1.2951299999999999</c:v>
                </c:pt>
                <c:pt idx="37">
                  <c:v>1.3090200000000001</c:v>
                </c:pt>
                <c:pt idx="38">
                  <c:v>1.2557</c:v>
                </c:pt>
                <c:pt idx="39">
                  <c:v>1.2522200000000001</c:v>
                </c:pt>
                <c:pt idx="40">
                  <c:v>1.27755</c:v>
                </c:pt>
                <c:pt idx="41">
                  <c:v>1.2944500000000001</c:v>
                </c:pt>
                <c:pt idx="42">
                  <c:v>1.2551000000000001</c:v>
                </c:pt>
                <c:pt idx="43">
                  <c:v>1.2549399999999999</c:v>
                </c:pt>
                <c:pt idx="44">
                  <c:v>1.23926</c:v>
                </c:pt>
                <c:pt idx="45">
                  <c:v>1.27369</c:v>
                </c:pt>
                <c:pt idx="46">
                  <c:v>1.2475700000000001</c:v>
                </c:pt>
                <c:pt idx="47">
                  <c:v>1.2301899999999999</c:v>
                </c:pt>
                <c:pt idx="48">
                  <c:v>1.21662</c:v>
                </c:pt>
                <c:pt idx="49">
                  <c:v>1.21305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740-4406-9F3E-727CF10206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01796752"/>
        <c:axId val="1001823152"/>
      </c:scatterChart>
      <c:valAx>
        <c:axId val="1001796752"/>
        <c:scaling>
          <c:orientation val="minMax"/>
          <c:max val="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1400"/>
                  <a:t>Epochs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1823152"/>
        <c:crosses val="autoZero"/>
        <c:crossBetween val="midCat"/>
      </c:valAx>
      <c:valAx>
        <c:axId val="1001823152"/>
        <c:scaling>
          <c:orientation val="minMax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1400"/>
                  <a:t>Loss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179675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788321608384869E-2"/>
          <c:y val="5.9325330429775287E-2"/>
          <c:w val="0.901102021192424"/>
          <c:h val="0.556606217396548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Sheet2!$A$2:$A$22</c:f>
              <c:strCache>
                <c:ptCount val="21"/>
                <c:pt idx="0">
                  <c:v>aadhaarcard</c:v>
                </c:pt>
                <c:pt idx="1">
                  <c:v>date</c:v>
                </c:pt>
                <c:pt idx="2">
                  <c:v>Dateofbirth</c:v>
                </c:pt>
                <c:pt idx="3">
                  <c:v>permanentaddress</c:v>
                </c:pt>
                <c:pt idx="4">
                  <c:v>presentaddress</c:v>
                </c:pt>
                <c:pt idx="5">
                  <c:v>pancard</c:v>
                </c:pt>
                <c:pt idx="6">
                  <c:v>bloodgroup</c:v>
                </c:pt>
                <c:pt idx="7">
                  <c:v>experience1</c:v>
                </c:pt>
                <c:pt idx="8">
                  <c:v>experience</c:v>
                </c:pt>
                <c:pt idx="9">
                  <c:v>referencescmob1</c:v>
                </c:pt>
                <c:pt idx="10">
                  <c:v>referencescmob2</c:v>
                </c:pt>
                <c:pt idx="11">
                  <c:v>Fatherhusbandname</c:v>
                </c:pt>
                <c:pt idx="12">
                  <c:v>candidatename</c:v>
                </c:pt>
                <c:pt idx="13">
                  <c:v>contactnumber</c:v>
                </c:pt>
                <c:pt idx="14">
                  <c:v>AlternateNo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Sheet2!$B$2:$B$22</c:f>
              <c:numCache>
                <c:formatCode>General</c:formatCode>
                <c:ptCount val="21"/>
                <c:pt idx="0">
                  <c:v>68.130779392338098</c:v>
                </c:pt>
                <c:pt idx="1">
                  <c:v>28.867505551443301</c:v>
                </c:pt>
                <c:pt idx="2">
                  <c:v>28.046421663442899</c:v>
                </c:pt>
                <c:pt idx="3">
                  <c:v>24.747729566094801</c:v>
                </c:pt>
                <c:pt idx="4">
                  <c:v>24.1718946047678</c:v>
                </c:pt>
                <c:pt idx="5">
                  <c:v>16.057692307692299</c:v>
                </c:pt>
                <c:pt idx="6">
                  <c:v>15.9958720330237</c:v>
                </c:pt>
                <c:pt idx="7">
                  <c:v>14.9511831871586</c:v>
                </c:pt>
                <c:pt idx="8">
                  <c:v>14.3938763624261</c:v>
                </c:pt>
                <c:pt idx="9">
                  <c:v>12.272016675351701</c:v>
                </c:pt>
                <c:pt idx="10">
                  <c:v>11.113043478260799</c:v>
                </c:pt>
                <c:pt idx="11">
                  <c:v>10.8283703302652</c:v>
                </c:pt>
                <c:pt idx="12">
                  <c:v>9.6209386281588394</c:v>
                </c:pt>
                <c:pt idx="13">
                  <c:v>8.8888888888888893</c:v>
                </c:pt>
                <c:pt idx="14">
                  <c:v>8.7640449438202204</c:v>
                </c:pt>
                <c:pt idx="15">
                  <c:v>8.6285195277020801</c:v>
                </c:pt>
                <c:pt idx="16">
                  <c:v>5.6635202665186002</c:v>
                </c:pt>
                <c:pt idx="17">
                  <c:v>5.5177626606198</c:v>
                </c:pt>
                <c:pt idx="18">
                  <c:v>4.2248413417951003</c:v>
                </c:pt>
                <c:pt idx="19">
                  <c:v>2.42686170212765</c:v>
                </c:pt>
                <c:pt idx="20">
                  <c:v>1.11806797853309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14-4606-8975-EB0CBE165F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53890864"/>
        <c:axId val="1053894784"/>
      </c:barChart>
      <c:catAx>
        <c:axId val="10538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4784"/>
        <c:crosses val="autoZero"/>
        <c:auto val="1"/>
        <c:lblAlgn val="ctr"/>
        <c:lblOffset val="100"/>
        <c:noMultiLvlLbl val="0"/>
      </c:catAx>
      <c:valAx>
        <c:axId val="1053894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0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accent1">
          <a:shade val="15000"/>
        </a:schemeClr>
      </a:solidFill>
    </a:ln>
    <a:effectLst/>
  </c:spPr>
  <c:txPr>
    <a:bodyPr rot="0" vert="horz"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3544799852969443E-2"/>
          <c:y val="5.9325456396214213E-2"/>
          <c:w val="0.87687546529325222"/>
          <c:h val="0.521508132088956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Sheet2!$E$1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Sheet2!$D$2:$D$22</c:f>
              <c:strCache>
                <c:ptCount val="21"/>
                <c:pt idx="0">
                  <c:v>aadhaarcard</c:v>
                </c:pt>
                <c:pt idx="1">
                  <c:v>permanentaddress</c:v>
                </c:pt>
                <c:pt idx="2">
                  <c:v>presentaddress</c:v>
                </c:pt>
                <c:pt idx="3">
                  <c:v>date</c:v>
                </c:pt>
                <c:pt idx="4">
                  <c:v>Dateofbirth</c:v>
                </c:pt>
                <c:pt idx="5">
                  <c:v>pancard</c:v>
                </c:pt>
                <c:pt idx="6">
                  <c:v>contactnumber</c:v>
                </c:pt>
                <c:pt idx="7">
                  <c:v>AlternateNo</c:v>
                </c:pt>
                <c:pt idx="8">
                  <c:v>referencescmob1</c:v>
                </c:pt>
                <c:pt idx="9">
                  <c:v>referencescmob2</c:v>
                </c:pt>
                <c:pt idx="10">
                  <c:v>experience1</c:v>
                </c:pt>
                <c:pt idx="11">
                  <c:v>Fatherhusbandname</c:v>
                </c:pt>
                <c:pt idx="12">
                  <c:v>experience</c:v>
                </c:pt>
                <c:pt idx="13">
                  <c:v>bloodgroup</c:v>
                </c:pt>
                <c:pt idx="14">
                  <c:v>candidatename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Sheet2!$E$2:$E$22</c:f>
              <c:numCache>
                <c:formatCode>General</c:formatCode>
                <c:ptCount val="21"/>
                <c:pt idx="0">
                  <c:v>102.222222222222</c:v>
                </c:pt>
                <c:pt idx="1">
                  <c:v>75.081206496519698</c:v>
                </c:pt>
                <c:pt idx="2">
                  <c:v>71.925011431184203</c:v>
                </c:pt>
                <c:pt idx="3">
                  <c:v>68.721461187214601</c:v>
                </c:pt>
                <c:pt idx="4">
                  <c:v>67.561521252796396</c:v>
                </c:pt>
                <c:pt idx="5">
                  <c:v>64.423076923076906</c:v>
                </c:pt>
                <c:pt idx="6">
                  <c:v>48.4444444444444</c:v>
                </c:pt>
                <c:pt idx="7">
                  <c:v>46.966292134831399</c:v>
                </c:pt>
                <c:pt idx="8">
                  <c:v>38.9444444444444</c:v>
                </c:pt>
                <c:pt idx="9">
                  <c:v>37.2222222222222</c:v>
                </c:pt>
                <c:pt idx="10">
                  <c:v>35.437881873727001</c:v>
                </c:pt>
                <c:pt idx="11">
                  <c:v>35.267857142857103</c:v>
                </c:pt>
                <c:pt idx="12">
                  <c:v>34.472817133443101</c:v>
                </c:pt>
                <c:pt idx="13">
                  <c:v>33.957845433255201</c:v>
                </c:pt>
                <c:pt idx="14">
                  <c:v>33.2962138084632</c:v>
                </c:pt>
                <c:pt idx="15">
                  <c:v>16.252821670428801</c:v>
                </c:pt>
                <c:pt idx="16">
                  <c:v>12.2895622895622</c:v>
                </c:pt>
                <c:pt idx="17">
                  <c:v>9.2970521541950095</c:v>
                </c:pt>
                <c:pt idx="18">
                  <c:v>8.8430361090641103</c:v>
                </c:pt>
                <c:pt idx="19">
                  <c:v>4.46428571428571</c:v>
                </c:pt>
                <c:pt idx="20">
                  <c:v>2.2471910112359499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98-4E7E-992D-2293085A07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79876016"/>
        <c:axId val="1179878816"/>
      </c:barChart>
      <c:catAx>
        <c:axId val="1179876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8816"/>
        <c:crosses val="autoZero"/>
        <c:auto val="1"/>
        <c:lblAlgn val="ctr"/>
        <c:lblOffset val="100"/>
        <c:noMultiLvlLbl val="0"/>
      </c:catAx>
      <c:valAx>
        <c:axId val="1179878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60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Sheet4!$B$1</c:f>
              <c:strCache>
                <c:ptCount val="1"/>
                <c:pt idx="0">
                  <c:v>Custom CTC Model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Sheet4!$B$2:$B$5</c:f>
              <c:numCache>
                <c:formatCode>General</c:formatCode>
                <c:ptCount val="4"/>
                <c:pt idx="0">
                  <c:v>37.58</c:v>
                </c:pt>
                <c:pt idx="1">
                  <c:v>46.93</c:v>
                </c:pt>
                <c:pt idx="2">
                  <c:v>62.58</c:v>
                </c:pt>
                <c:pt idx="3">
                  <c:v>40.51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3-4032-93DE-8D90180C3211}"/>
            </c:ext>
          </c:extLst>
        </c:ser>
        <c:ser>
          <c:idx val="1"/>
          <c:order val="1"/>
          <c:tx>
            <c:strRef>
              <c:f>Sheet4!$C$1</c:f>
              <c:strCache>
                <c:ptCount val="1"/>
                <c:pt idx="0">
                  <c:v>TrOCR Model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Sheet4!$C$2:$C$5</c:f>
              <c:numCache>
                <c:formatCode>General</c:formatCode>
                <c:ptCount val="4"/>
                <c:pt idx="0">
                  <c:v>15.82</c:v>
                </c:pt>
                <c:pt idx="1">
                  <c:v>41.62</c:v>
                </c:pt>
                <c:pt idx="2">
                  <c:v>47.52</c:v>
                </c:pt>
                <c:pt idx="3">
                  <c:v>57.02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A43-4032-93DE-8D90180C32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7783712"/>
        <c:axId val="1297782032"/>
      </c:barChart>
      <c:catAx>
        <c:axId val="1297783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2032"/>
        <c:crosses val="autoZero"/>
        <c:auto val="1"/>
        <c:lblAlgn val="ctr"/>
        <c:lblOffset val="100"/>
        <c:noMultiLvlLbl val="0"/>
      </c:catAx>
      <c:valAx>
        <c:axId val="1297782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3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Sheet2!$A$2:$A$22</c:f>
              <c:strCache>
                <c:ptCount val="21"/>
                <c:pt idx="0">
                  <c:v>aadhaarcard</c:v>
                </c:pt>
                <c:pt idx="1">
                  <c:v>date</c:v>
                </c:pt>
                <c:pt idx="2">
                  <c:v>Dateofbirth</c:v>
                </c:pt>
                <c:pt idx="3">
                  <c:v>permanentaddress</c:v>
                </c:pt>
                <c:pt idx="4">
                  <c:v>presentaddress</c:v>
                </c:pt>
                <c:pt idx="5">
                  <c:v>pancard</c:v>
                </c:pt>
                <c:pt idx="6">
                  <c:v>bloodgroup</c:v>
                </c:pt>
                <c:pt idx="7">
                  <c:v>experience1</c:v>
                </c:pt>
                <c:pt idx="8">
                  <c:v>experience</c:v>
                </c:pt>
                <c:pt idx="9">
                  <c:v>referencescmob1</c:v>
                </c:pt>
                <c:pt idx="10">
                  <c:v>referencescmob2</c:v>
                </c:pt>
                <c:pt idx="11">
                  <c:v>Fatherhusbandname</c:v>
                </c:pt>
                <c:pt idx="12">
                  <c:v>candidatename</c:v>
                </c:pt>
                <c:pt idx="13">
                  <c:v>contactnumber</c:v>
                </c:pt>
                <c:pt idx="14">
                  <c:v>AlternateNo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Sheet2!$B$2:$B$22</c:f>
              <c:numCache>
                <c:formatCode>General</c:formatCode>
                <c:ptCount val="21"/>
                <c:pt idx="0">
                  <c:v>68.130779392338098</c:v>
                </c:pt>
                <c:pt idx="1">
                  <c:v>28.867505551443301</c:v>
                </c:pt>
                <c:pt idx="2">
                  <c:v>28.046421663442899</c:v>
                </c:pt>
                <c:pt idx="3">
                  <c:v>24.747729566094801</c:v>
                </c:pt>
                <c:pt idx="4">
                  <c:v>24.1718946047678</c:v>
                </c:pt>
                <c:pt idx="5">
                  <c:v>16.057692307692299</c:v>
                </c:pt>
                <c:pt idx="6">
                  <c:v>15.9958720330237</c:v>
                </c:pt>
                <c:pt idx="7">
                  <c:v>14.9511831871586</c:v>
                </c:pt>
                <c:pt idx="8">
                  <c:v>14.3938763624261</c:v>
                </c:pt>
                <c:pt idx="9">
                  <c:v>12.272016675351701</c:v>
                </c:pt>
                <c:pt idx="10">
                  <c:v>11.113043478260799</c:v>
                </c:pt>
                <c:pt idx="11">
                  <c:v>10.8283703302652</c:v>
                </c:pt>
                <c:pt idx="12">
                  <c:v>9.6209386281588394</c:v>
                </c:pt>
                <c:pt idx="13">
                  <c:v>8.8888888888888893</c:v>
                </c:pt>
                <c:pt idx="14">
                  <c:v>8.7640449438202204</c:v>
                </c:pt>
                <c:pt idx="15">
                  <c:v>8.6285195277020801</c:v>
                </c:pt>
                <c:pt idx="16">
                  <c:v>5.6635202665186002</c:v>
                </c:pt>
                <c:pt idx="17">
                  <c:v>5.5177626606198</c:v>
                </c:pt>
                <c:pt idx="18">
                  <c:v>4.2248413417951003</c:v>
                </c:pt>
                <c:pt idx="19">
                  <c:v>2.42686170212765</c:v>
                </c:pt>
                <c:pt idx="20">
                  <c:v>1.11806797853309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30-493C-AD1F-E53095F66D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53890864"/>
        <c:axId val="1053894784"/>
      </c:barChart>
      <c:catAx>
        <c:axId val="10538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4784"/>
        <c:crosses val="autoZero"/>
        <c:auto val="1"/>
        <c:lblAlgn val="ctr"/>
        <c:lblOffset val="100"/>
        <c:noMultiLvlLbl val="0"/>
      </c:catAx>
      <c:valAx>
        <c:axId val="1053894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0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 rot="0" vert="horz"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Sheet2!$E$1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Sheet2!$D$2:$D$22</c:f>
              <c:strCache>
                <c:ptCount val="21"/>
                <c:pt idx="0">
                  <c:v>aadhaarcard</c:v>
                </c:pt>
                <c:pt idx="1">
                  <c:v>permanentaddress</c:v>
                </c:pt>
                <c:pt idx="2">
                  <c:v>presentaddress</c:v>
                </c:pt>
                <c:pt idx="3">
                  <c:v>date</c:v>
                </c:pt>
                <c:pt idx="4">
                  <c:v>Dateofbirth</c:v>
                </c:pt>
                <c:pt idx="5">
                  <c:v>pancard</c:v>
                </c:pt>
                <c:pt idx="6">
                  <c:v>contactnumber</c:v>
                </c:pt>
                <c:pt idx="7">
                  <c:v>AlternateNo</c:v>
                </c:pt>
                <c:pt idx="8">
                  <c:v>referencescmob1</c:v>
                </c:pt>
                <c:pt idx="9">
                  <c:v>referencescmob2</c:v>
                </c:pt>
                <c:pt idx="10">
                  <c:v>experience1</c:v>
                </c:pt>
                <c:pt idx="11">
                  <c:v>Fatherhusbandname</c:v>
                </c:pt>
                <c:pt idx="12">
                  <c:v>experience</c:v>
                </c:pt>
                <c:pt idx="13">
                  <c:v>bloodgroup</c:v>
                </c:pt>
                <c:pt idx="14">
                  <c:v>candidatename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Sheet2!$E$2:$E$22</c:f>
              <c:numCache>
                <c:formatCode>General</c:formatCode>
                <c:ptCount val="21"/>
                <c:pt idx="0">
                  <c:v>102.222222222222</c:v>
                </c:pt>
                <c:pt idx="1">
                  <c:v>75.081206496519698</c:v>
                </c:pt>
                <c:pt idx="2">
                  <c:v>71.925011431184203</c:v>
                </c:pt>
                <c:pt idx="3">
                  <c:v>68.721461187214601</c:v>
                </c:pt>
                <c:pt idx="4">
                  <c:v>67.561521252796396</c:v>
                </c:pt>
                <c:pt idx="5">
                  <c:v>64.423076923076906</c:v>
                </c:pt>
                <c:pt idx="6">
                  <c:v>48.4444444444444</c:v>
                </c:pt>
                <c:pt idx="7">
                  <c:v>46.966292134831399</c:v>
                </c:pt>
                <c:pt idx="8">
                  <c:v>38.9444444444444</c:v>
                </c:pt>
                <c:pt idx="9">
                  <c:v>37.2222222222222</c:v>
                </c:pt>
                <c:pt idx="10">
                  <c:v>35.437881873727001</c:v>
                </c:pt>
                <c:pt idx="11">
                  <c:v>35.267857142857103</c:v>
                </c:pt>
                <c:pt idx="12">
                  <c:v>34.472817133443101</c:v>
                </c:pt>
                <c:pt idx="13">
                  <c:v>33.957845433255201</c:v>
                </c:pt>
                <c:pt idx="14">
                  <c:v>33.2962138084632</c:v>
                </c:pt>
                <c:pt idx="15">
                  <c:v>16.252821670428801</c:v>
                </c:pt>
                <c:pt idx="16">
                  <c:v>12.2895622895622</c:v>
                </c:pt>
                <c:pt idx="17">
                  <c:v>9.2970521541950095</c:v>
                </c:pt>
                <c:pt idx="18">
                  <c:v>8.8430361090641103</c:v>
                </c:pt>
                <c:pt idx="19">
                  <c:v>4.46428571428571</c:v>
                </c:pt>
                <c:pt idx="20">
                  <c:v>2.2471910112359499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51-4183-9891-75D167625B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79876016"/>
        <c:axId val="1179878816"/>
      </c:barChart>
      <c:catAx>
        <c:axId val="1179876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8816"/>
        <c:crosses val="autoZero"/>
        <c:auto val="1"/>
        <c:lblAlgn val="ctr"/>
        <c:lblOffset val="100"/>
        <c:noMultiLvlLbl val="0"/>
      </c:catAx>
      <c:valAx>
        <c:axId val="1179878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60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2940D-9C20-4E88-B6DA-1821C75C2316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53BEA-5E52-4666-A8DD-6A0310A59C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2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34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775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3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1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5913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605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8592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622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49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7321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6149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28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3964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0906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6195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06849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45B38-1126-0418-5676-4679E07C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79498-A657-D194-E8AB-DCA361DDE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0E63A4-4D7C-00DF-95B0-A3A5DA13B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0E2F1-2EAF-0CD0-C8F5-99945F2732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72474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001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101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90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677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56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8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38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7413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000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480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416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13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1901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37C1D5-1EA4-4B24-B76E-91AF016E39DE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4127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g"/><Relationship Id="rId4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6880" y="1654629"/>
            <a:ext cx="9144000" cy="241227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Handwritten Form Recognition using YOLO and </a:t>
            </a:r>
            <a:r>
              <a:rPr lang="en-US" b="1" dirty="0" err="1">
                <a:solidFill>
                  <a:schemeClr val="bg1"/>
                </a:solidFill>
              </a:rPr>
              <a:t>TrOCR</a:t>
            </a:r>
            <a:r>
              <a:rPr lang="en-US" b="1" dirty="0">
                <a:solidFill>
                  <a:schemeClr val="bg1"/>
                </a:solidFill>
              </a:rPr>
              <a:t> with Layout Aware Error Correction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911634"/>
            <a:ext cx="9144000" cy="1251858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537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04735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Team Introduction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9113" y="3826391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>
                <a:solidFill>
                  <a:schemeClr val="bg1"/>
                </a:solidFill>
              </a:rPr>
              <a:t>Satishkumar</a:t>
            </a:r>
            <a:endParaRPr lang="en-IN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E4E3E8-5698-16CD-5231-E064A9919CCE}"/>
              </a:ext>
            </a:extLst>
          </p:cNvPr>
          <p:cNvGrpSpPr/>
          <p:nvPr/>
        </p:nvGrpSpPr>
        <p:grpSpPr>
          <a:xfrm>
            <a:off x="3717637" y="2195945"/>
            <a:ext cx="2821940" cy="2466109"/>
            <a:chOff x="3717637" y="2195945"/>
            <a:chExt cx="2821940" cy="2466109"/>
          </a:xfrm>
        </p:grpSpPr>
        <p:sp>
          <p:nvSpPr>
            <p:cNvPr id="19" name="Rounded Rectangle 18"/>
            <p:cNvSpPr/>
            <p:nvPr/>
          </p:nvSpPr>
          <p:spPr>
            <a:xfrm>
              <a:off x="3717637" y="2195945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244340" y="3826391"/>
              <a:ext cx="2295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 err="1">
                  <a:solidFill>
                    <a:schemeClr val="bg1"/>
                  </a:solidFill>
                </a:rPr>
                <a:t>Anand</a:t>
              </a:r>
              <a:endParaRPr lang="en-IN" dirty="0">
                <a:solidFill>
                  <a:schemeClr val="bg1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085245" y="4128245"/>
              <a:ext cx="12044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solidFill>
                    <a:schemeClr val="bg1"/>
                  </a:solidFill>
                </a:rPr>
                <a:t>Sr. Consultant</a:t>
              </a:r>
            </a:p>
          </p:txBody>
        </p:sp>
        <p:pic>
          <p:nvPicPr>
            <p:cNvPr id="32" name="Picture 3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4635" y="2340810"/>
              <a:ext cx="1440000" cy="144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2FD0A2-FB3D-56F4-423E-582E08BB910C}"/>
              </a:ext>
            </a:extLst>
          </p:cNvPr>
          <p:cNvGrpSpPr/>
          <p:nvPr/>
        </p:nvGrpSpPr>
        <p:grpSpPr>
          <a:xfrm>
            <a:off x="6309360" y="2195945"/>
            <a:ext cx="2890058" cy="2466109"/>
            <a:chOff x="6309360" y="2195945"/>
            <a:chExt cx="2890058" cy="2466109"/>
          </a:xfrm>
        </p:grpSpPr>
        <p:sp>
          <p:nvSpPr>
            <p:cNvPr id="20" name="Rounded Rectangle 19"/>
            <p:cNvSpPr/>
            <p:nvPr/>
          </p:nvSpPr>
          <p:spPr>
            <a:xfrm>
              <a:off x="6309360" y="2195945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04181" y="3803887"/>
              <a:ext cx="2295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 err="1">
                  <a:solidFill>
                    <a:schemeClr val="bg1"/>
                  </a:solidFill>
                </a:rPr>
                <a:t>Iniya</a:t>
              </a:r>
              <a:endParaRPr lang="en-IN" dirty="0">
                <a:solidFill>
                  <a:schemeClr val="bg1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611850" y="4099650"/>
              <a:ext cx="133465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Data Scientist</a:t>
              </a:r>
            </a:p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Secure Traces</a:t>
              </a:r>
              <a:endParaRPr lang="en-IN" sz="1400" dirty="0">
                <a:solidFill>
                  <a:srgbClr val="FF0000"/>
                </a:solidFill>
              </a:endParaRPr>
            </a:p>
          </p:txBody>
        </p:sp>
        <p:pic>
          <p:nvPicPr>
            <p:cNvPr id="35" name="Picture 3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59178" y="2330709"/>
              <a:ext cx="1440000" cy="14400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4ECCCB8-3C93-6E1D-48CE-B885E75C3F96}"/>
              </a:ext>
            </a:extLst>
          </p:cNvPr>
          <p:cNvGrpSpPr/>
          <p:nvPr/>
        </p:nvGrpSpPr>
        <p:grpSpPr>
          <a:xfrm>
            <a:off x="8732982" y="2195945"/>
            <a:ext cx="2620818" cy="2466109"/>
            <a:chOff x="8732982" y="2195945"/>
            <a:chExt cx="2620818" cy="2466109"/>
          </a:xfrm>
        </p:grpSpPr>
        <p:sp>
          <p:nvSpPr>
            <p:cNvPr id="21" name="Rounded Rectangle 20"/>
            <p:cNvSpPr/>
            <p:nvPr/>
          </p:nvSpPr>
          <p:spPr>
            <a:xfrm>
              <a:off x="8732982" y="2195945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993908" y="3823999"/>
              <a:ext cx="22952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solidFill>
                    <a:schemeClr val="bg1"/>
                  </a:solidFill>
                </a:rPr>
                <a:t>Muthukumar 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058563" y="4116618"/>
              <a:ext cx="22952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solidFill>
                    <a:schemeClr val="bg1"/>
                  </a:solidFill>
                </a:rPr>
                <a:t>Scientist, IGCAR</a:t>
              </a:r>
            </a:p>
          </p:txBody>
        </p:sp>
        <p:pic>
          <p:nvPicPr>
            <p:cNvPr id="36" name="Picture 3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2800" y="2340794"/>
              <a:ext cx="1440000" cy="144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A2B171E-96BC-80F1-2676-F2393D3D018C}"/>
              </a:ext>
            </a:extLst>
          </p:cNvPr>
          <p:cNvGrpSpPr/>
          <p:nvPr/>
        </p:nvGrpSpPr>
        <p:grpSpPr>
          <a:xfrm>
            <a:off x="1191491" y="2195946"/>
            <a:ext cx="1939636" cy="2466109"/>
            <a:chOff x="1191491" y="2195946"/>
            <a:chExt cx="1939636" cy="2466109"/>
          </a:xfrm>
        </p:grpSpPr>
        <p:sp>
          <p:nvSpPr>
            <p:cNvPr id="18" name="Rounded Rectangle 17"/>
            <p:cNvSpPr/>
            <p:nvPr/>
          </p:nvSpPr>
          <p:spPr>
            <a:xfrm>
              <a:off x="1191491" y="2195946"/>
              <a:ext cx="1939636" cy="2466109"/>
            </a:xfrm>
            <a:prstGeom prst="roundRect">
              <a:avLst/>
            </a:prstGeom>
            <a:solidFill>
              <a:srgbClr val="2C46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649167" y="4092618"/>
              <a:ext cx="10199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Sr. Scientist</a:t>
              </a:r>
            </a:p>
          </p:txBody>
        </p:sp>
        <p:pic>
          <p:nvPicPr>
            <p:cNvPr id="34" name="Picture 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9138" y="2335607"/>
              <a:ext cx="1440000" cy="144000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13A8581-63FD-D68F-716D-219CF6189B9B}"/>
                </a:ext>
              </a:extLst>
            </p:cNvPr>
            <p:cNvSpPr txBox="1"/>
            <p:nvPr/>
          </p:nvSpPr>
          <p:spPr>
            <a:xfrm>
              <a:off x="1733418" y="4317124"/>
              <a:ext cx="8514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400" dirty="0">
                  <a:solidFill>
                    <a:schemeClr val="bg1"/>
                  </a:solidFill>
                </a:rPr>
                <a:t>IGCAR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B528FC9-437F-49C7-CF72-C8C94DB4A260}"/>
              </a:ext>
            </a:extLst>
          </p:cNvPr>
          <p:cNvSpPr txBox="1"/>
          <p:nvPr/>
        </p:nvSpPr>
        <p:spPr>
          <a:xfrm>
            <a:off x="1360479" y="3793308"/>
            <a:ext cx="1597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Sathishkumar</a:t>
            </a:r>
          </a:p>
        </p:txBody>
      </p:sp>
    </p:spTree>
    <p:extLst>
      <p:ext uri="{BB962C8B-B14F-4D97-AF65-F5344CB8AC3E}">
        <p14:creationId xmlns:p14="http://schemas.microsoft.com/office/powerpoint/2010/main" val="1101746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Problem Statement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0" b="24714"/>
          <a:stretch/>
        </p:blipFill>
        <p:spPr>
          <a:xfrm>
            <a:off x="1015160" y="1259046"/>
            <a:ext cx="4488601" cy="4528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4"/>
          <a:srcRect t="282"/>
          <a:stretch/>
        </p:blipFill>
        <p:spPr>
          <a:xfrm>
            <a:off x="7177377" y="1259045"/>
            <a:ext cx="3154305" cy="45232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ight Arrow 14"/>
          <p:cNvSpPr/>
          <p:nvPr/>
        </p:nvSpPr>
        <p:spPr>
          <a:xfrm>
            <a:off x="5800436" y="3186545"/>
            <a:ext cx="1025237" cy="683266"/>
          </a:xfrm>
          <a:prstGeom prst="right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1" name="Group 50"/>
          <p:cNvGrpSpPr/>
          <p:nvPr/>
        </p:nvGrpSpPr>
        <p:grpSpPr>
          <a:xfrm>
            <a:off x="1939636" y="784082"/>
            <a:ext cx="7232073" cy="984283"/>
            <a:chOff x="1939636" y="784082"/>
            <a:chExt cx="7232073" cy="984283"/>
          </a:xfrm>
        </p:grpSpPr>
        <p:cxnSp>
          <p:nvCxnSpPr>
            <p:cNvPr id="23" name="Elbow Connector 22"/>
            <p:cNvCxnSpPr/>
            <p:nvPr/>
          </p:nvCxnSpPr>
          <p:spPr>
            <a:xfrm flipV="1">
              <a:off x="1939636" y="784082"/>
              <a:ext cx="7232073" cy="984283"/>
            </a:xfrm>
            <a:prstGeom prst="bentConnector3">
              <a:avLst>
                <a:gd name="adj1" fmla="val -64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>
              <a:off x="9171709" y="784082"/>
              <a:ext cx="0" cy="7491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/>
          <p:cNvGrpSpPr/>
          <p:nvPr/>
        </p:nvGrpSpPr>
        <p:grpSpPr>
          <a:xfrm>
            <a:off x="3259460" y="1431636"/>
            <a:ext cx="5635158" cy="336729"/>
            <a:chOff x="3259460" y="1431636"/>
            <a:chExt cx="5635158" cy="336729"/>
          </a:xfrm>
        </p:grpSpPr>
        <p:cxnSp>
          <p:nvCxnSpPr>
            <p:cNvPr id="42" name="Elbow Connector 41"/>
            <p:cNvCxnSpPr/>
            <p:nvPr/>
          </p:nvCxnSpPr>
          <p:spPr>
            <a:xfrm flipV="1">
              <a:off x="3259460" y="1431636"/>
              <a:ext cx="5635158" cy="336729"/>
            </a:xfrm>
            <a:prstGeom prst="bentConnector3">
              <a:avLst>
                <a:gd name="adj1" fmla="val 9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>
              <a:off x="8894618" y="1431636"/>
              <a:ext cx="0" cy="3367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2613891" y="1768365"/>
            <a:ext cx="1219200" cy="208217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971636" y="1872473"/>
            <a:ext cx="3814619" cy="3442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31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Related Work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638527" y="1330085"/>
            <a:ext cx="3464595" cy="4545874"/>
            <a:chOff x="638527" y="1330085"/>
            <a:chExt cx="3464595" cy="4545874"/>
          </a:xfrm>
        </p:grpSpPr>
        <p:sp>
          <p:nvSpPr>
            <p:cNvPr id="11" name="Rectangle 10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13" name="Pentagon 1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2" name="Flowchart: Connector 1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21" name="Pentagon 20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2" name="Flowchart: Connector 2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25" name="Pentagon 24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6" name="Flowchart: Connector 25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3" name="Group 32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34" name="Pentagon 3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5" name="Flowchart: Connector 3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>
                  <a:solidFill>
                    <a:schemeClr val="bg1"/>
                  </a:solidFill>
                </a:rPr>
                <a:t>images with handwritten text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9689" y="1330085"/>
              <a:ext cx="16966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/>
                <a:t>Layout LM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4248529" y="1320850"/>
            <a:ext cx="3464595" cy="4555109"/>
            <a:chOff x="638527" y="1320850"/>
            <a:chExt cx="3464595" cy="4555109"/>
          </a:xfrm>
        </p:grpSpPr>
        <p:sp>
          <p:nvSpPr>
            <p:cNvPr id="44" name="Rectangle 43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5" name="Group 44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63" name="Pentagon 6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4" name="Flowchart: Connector 6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60" name="Pentagon 59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1" name="Flowchart: Connector 60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7" name="Group 46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57" name="Pentagon 5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8" name="Flowchart: Connector 5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54" name="Pentagon 5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5" name="Flowchart: Connector 5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49" name="TextBox 48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>
                  <a:solidFill>
                    <a:schemeClr val="bg1"/>
                  </a:solidFill>
                </a:rPr>
                <a:t>images with handwritten text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229593" y="5246012"/>
              <a:ext cx="236487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Training requires complex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hardware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314282" y="1320850"/>
              <a:ext cx="212109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/>
                <a:t>Donut Model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8036532" y="1296745"/>
            <a:ext cx="3464595" cy="4574133"/>
            <a:chOff x="638527" y="1301826"/>
            <a:chExt cx="3464595" cy="4574133"/>
          </a:xfrm>
        </p:grpSpPr>
        <p:sp>
          <p:nvSpPr>
            <p:cNvPr id="67" name="Rectangle 66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86" name="Pentagon 85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7" name="Flowchart: Connector 86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69" name="Group 68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83" name="Pentagon 8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4" name="Flowchart: Connector 8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5" name="TextBox 8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0" name="Group 69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80" name="Pentagon 79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1" name="Flowchart: Connector 80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1" name="Group 70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77" name="Pentagon 7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8" name="Flowchart: Connector 7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72" name="TextBox 71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>
                  <a:solidFill>
                    <a:schemeClr val="bg1"/>
                  </a:solidFill>
                </a:rPr>
                <a:t>images with handwritten text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083130" y="1301826"/>
              <a:ext cx="25753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/>
                <a:t>Detection + OCR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846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83465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Model Architecture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sp>
        <p:nvSpPr>
          <p:cNvPr id="15" name="Rectangle: Rounded Corners 955755312">
            <a:extLst>
              <a:ext uri="{FF2B5EF4-FFF2-40B4-BE49-F238E27FC236}">
                <a16:creationId xmlns:a16="http://schemas.microsoft.com/office/drawing/2014/main" id="{6DAEFD3C-0155-2402-A87F-BC07F5FFF7CE}"/>
              </a:ext>
            </a:extLst>
          </p:cNvPr>
          <p:cNvSpPr/>
          <p:nvPr/>
        </p:nvSpPr>
        <p:spPr>
          <a:xfrm>
            <a:off x="1782382" y="2722198"/>
            <a:ext cx="1220580" cy="102747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FFFFFF"/>
                </a:solidFill>
                <a:effectLst/>
                <a:ea typeface="Arial" panose="020B0604020202020204" pitchFamily="34" charset="0"/>
                <a:cs typeface="Times New Roman" panose="02020603050405020304" pitchFamily="18" charset="0"/>
              </a:rPr>
              <a:t>Detection Model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7" name="Rectangle: Rounded Corners 337800328">
            <a:extLst>
              <a:ext uri="{FF2B5EF4-FFF2-40B4-BE49-F238E27FC236}">
                <a16:creationId xmlns:a16="http://schemas.microsoft.com/office/drawing/2014/main" id="{47FFFF1B-FB6A-6132-DA82-C5F4ADFE6EA1}"/>
              </a:ext>
            </a:extLst>
          </p:cNvPr>
          <p:cNvSpPr/>
          <p:nvPr/>
        </p:nvSpPr>
        <p:spPr>
          <a:xfrm>
            <a:off x="3877799" y="2691940"/>
            <a:ext cx="1220582" cy="1027471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Field Matching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452009881">
            <a:extLst>
              <a:ext uri="{FF2B5EF4-FFF2-40B4-BE49-F238E27FC236}">
                <a16:creationId xmlns:a16="http://schemas.microsoft.com/office/drawing/2014/main" id="{95CFF6B9-9BD3-9470-8619-F307E94B5EBF}"/>
              </a:ext>
            </a:extLst>
          </p:cNvPr>
          <p:cNvSpPr/>
          <p:nvPr/>
        </p:nvSpPr>
        <p:spPr>
          <a:xfrm>
            <a:off x="5994268" y="2664899"/>
            <a:ext cx="1252822" cy="1027468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OCR Model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Rectangle: Rounded Corners 643149211">
            <a:extLst>
              <a:ext uri="{FF2B5EF4-FFF2-40B4-BE49-F238E27FC236}">
                <a16:creationId xmlns:a16="http://schemas.microsoft.com/office/drawing/2014/main" id="{B19715AB-4AA8-8F4A-1BA0-23611D4095E1}"/>
              </a:ext>
            </a:extLst>
          </p:cNvPr>
          <p:cNvSpPr/>
          <p:nvPr/>
        </p:nvSpPr>
        <p:spPr>
          <a:xfrm>
            <a:off x="8136595" y="2634972"/>
            <a:ext cx="1252822" cy="101201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Post Processing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C668D8-5355-96EF-6C76-040115E13ABA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992996" y="3235934"/>
            <a:ext cx="78938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79C335-4635-9AC3-C1D9-80B4E75AF8F3}"/>
              </a:ext>
            </a:extLst>
          </p:cNvPr>
          <p:cNvCxnSpPr>
            <a:cxnSpLocks/>
          </p:cNvCxnSpPr>
          <p:nvPr/>
        </p:nvCxnSpPr>
        <p:spPr>
          <a:xfrm flipH="1" flipV="1">
            <a:off x="4488089" y="3701601"/>
            <a:ext cx="1" cy="576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13">
            <a:extLst>
              <a:ext uri="{FF2B5EF4-FFF2-40B4-BE49-F238E27FC236}">
                <a16:creationId xmlns:a16="http://schemas.microsoft.com/office/drawing/2014/main" id="{C9838C68-051B-AF68-C866-16F0D59F4032}"/>
              </a:ext>
            </a:extLst>
          </p:cNvPr>
          <p:cNvSpPr txBox="1"/>
          <p:nvPr/>
        </p:nvSpPr>
        <p:spPr>
          <a:xfrm>
            <a:off x="3841418" y="4202387"/>
            <a:ext cx="1250736" cy="6785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Reference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DC1B61-9240-CB09-EE55-5BD0B0B06BAD}"/>
              </a:ext>
            </a:extLst>
          </p:cNvPr>
          <p:cNvCxnSpPr>
            <a:cxnSpLocks/>
          </p:cNvCxnSpPr>
          <p:nvPr/>
        </p:nvCxnSpPr>
        <p:spPr>
          <a:xfrm>
            <a:off x="9389417" y="3140978"/>
            <a:ext cx="634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1513A41-752C-419A-7662-5071D3FE38C3}"/>
              </a:ext>
            </a:extLst>
          </p:cNvPr>
          <p:cNvCxnSpPr>
            <a:cxnSpLocks/>
          </p:cNvCxnSpPr>
          <p:nvPr/>
        </p:nvCxnSpPr>
        <p:spPr>
          <a:xfrm>
            <a:off x="2989013" y="3205676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E8D2C6C-E662-85B3-B077-6AD7F17FE6DC}"/>
              </a:ext>
            </a:extLst>
          </p:cNvPr>
          <p:cNvCxnSpPr>
            <a:cxnSpLocks/>
          </p:cNvCxnSpPr>
          <p:nvPr/>
        </p:nvCxnSpPr>
        <p:spPr>
          <a:xfrm>
            <a:off x="3440381" y="1978628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6">
            <a:extLst>
              <a:ext uri="{FF2B5EF4-FFF2-40B4-BE49-F238E27FC236}">
                <a16:creationId xmlns:a16="http://schemas.microsoft.com/office/drawing/2014/main" id="{25C0153D-E433-759E-52D5-C249B4D114BA}"/>
              </a:ext>
            </a:extLst>
          </p:cNvPr>
          <p:cNvSpPr txBox="1"/>
          <p:nvPr/>
        </p:nvSpPr>
        <p:spPr>
          <a:xfrm>
            <a:off x="2798045" y="1126935"/>
            <a:ext cx="1407736" cy="6059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Bounding Box 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E8520EFC-0FF4-8884-4695-9A04F2120B07}"/>
              </a:ext>
            </a:extLst>
          </p:cNvPr>
          <p:cNvSpPr txBox="1"/>
          <p:nvPr/>
        </p:nvSpPr>
        <p:spPr>
          <a:xfrm>
            <a:off x="5003206" y="1125333"/>
            <a:ext cx="1250736" cy="64438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25C9F8EB-9741-4C4B-A978-B63D06ADCA24}"/>
              </a:ext>
            </a:extLst>
          </p:cNvPr>
          <p:cNvSpPr txBox="1"/>
          <p:nvPr/>
        </p:nvSpPr>
        <p:spPr>
          <a:xfrm>
            <a:off x="7253437" y="1129788"/>
            <a:ext cx="896390" cy="624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698201A-64DE-3299-5C9A-7C1926A7FAD2}"/>
              </a:ext>
            </a:extLst>
          </p:cNvPr>
          <p:cNvCxnSpPr>
            <a:cxnSpLocks/>
          </p:cNvCxnSpPr>
          <p:nvPr/>
        </p:nvCxnSpPr>
        <p:spPr>
          <a:xfrm>
            <a:off x="5104760" y="3205674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4197C54-B347-679C-40EB-472BA244AC8A}"/>
              </a:ext>
            </a:extLst>
          </p:cNvPr>
          <p:cNvCxnSpPr>
            <a:cxnSpLocks/>
          </p:cNvCxnSpPr>
          <p:nvPr/>
        </p:nvCxnSpPr>
        <p:spPr>
          <a:xfrm>
            <a:off x="5556128" y="1978626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CD58BD1C-B577-4843-C1E4-69AB2EA79106}"/>
              </a:ext>
            </a:extLst>
          </p:cNvPr>
          <p:cNvSpPr/>
          <p:nvPr/>
        </p:nvSpPr>
        <p:spPr>
          <a:xfrm>
            <a:off x="5504872" y="187651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115D69-AF70-47B5-FCE0-655CFF435418}"/>
              </a:ext>
            </a:extLst>
          </p:cNvPr>
          <p:cNvCxnSpPr>
            <a:cxnSpLocks/>
          </p:cNvCxnSpPr>
          <p:nvPr/>
        </p:nvCxnSpPr>
        <p:spPr>
          <a:xfrm>
            <a:off x="7247090" y="3178631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2D33966-1DE9-9893-CE37-C889084D1EE9}"/>
              </a:ext>
            </a:extLst>
          </p:cNvPr>
          <p:cNvCxnSpPr>
            <a:cxnSpLocks/>
          </p:cNvCxnSpPr>
          <p:nvPr/>
        </p:nvCxnSpPr>
        <p:spPr>
          <a:xfrm>
            <a:off x="7698458" y="1951583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49">
            <a:extLst>
              <a:ext uri="{FF2B5EF4-FFF2-40B4-BE49-F238E27FC236}">
                <a16:creationId xmlns:a16="http://schemas.microsoft.com/office/drawing/2014/main" id="{2A88F6FB-B647-6B0E-45DC-FB2C0A702D35}"/>
              </a:ext>
            </a:extLst>
          </p:cNvPr>
          <p:cNvSpPr txBox="1"/>
          <p:nvPr/>
        </p:nvSpPr>
        <p:spPr>
          <a:xfrm>
            <a:off x="10025806" y="2790862"/>
            <a:ext cx="1152501" cy="6238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Form Field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D58BD1C-B577-4843-C1E4-69AB2EA79106}"/>
              </a:ext>
            </a:extLst>
          </p:cNvPr>
          <p:cNvSpPr/>
          <p:nvPr/>
        </p:nvSpPr>
        <p:spPr>
          <a:xfrm>
            <a:off x="3378848" y="184737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D58BD1C-B577-4843-C1E4-69AB2EA79106}"/>
              </a:ext>
            </a:extLst>
          </p:cNvPr>
          <p:cNvSpPr/>
          <p:nvPr/>
        </p:nvSpPr>
        <p:spPr>
          <a:xfrm>
            <a:off x="7636925" y="1841147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8734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Detection Model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5" t="2829" r="4541" b="24847"/>
          <a:stretch/>
        </p:blipFill>
        <p:spPr>
          <a:xfrm>
            <a:off x="674255" y="1121050"/>
            <a:ext cx="3823854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0" t="2828" r="4022" b="23906"/>
          <a:stretch/>
        </p:blipFill>
        <p:spPr>
          <a:xfrm>
            <a:off x="7749309" y="1110231"/>
            <a:ext cx="3842327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YOLO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2312B4-9B64-411A-9C08-E26E4D8C7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526780"/>
              </p:ext>
            </p:extLst>
          </p:nvPr>
        </p:nvGraphicFramePr>
        <p:xfrm>
          <a:off x="4876799" y="3631341"/>
          <a:ext cx="266469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2346">
                  <a:extLst>
                    <a:ext uri="{9D8B030D-6E8A-4147-A177-3AD203B41FA5}">
                      <a16:colId xmlns:a16="http://schemas.microsoft.com/office/drawing/2014/main" val="2792863021"/>
                    </a:ext>
                  </a:extLst>
                </a:gridCol>
                <a:gridCol w="1332346">
                  <a:extLst>
                    <a:ext uri="{9D8B030D-6E8A-4147-A177-3AD203B41FA5}">
                      <a16:colId xmlns:a16="http://schemas.microsoft.com/office/drawing/2014/main" val="29526659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056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Version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v8 medium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616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36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Input Size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640 X 640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248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0.25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5356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IOU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5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081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Detection Model: YOLO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9" b="24847"/>
          <a:stretch/>
        </p:blipFill>
        <p:spPr>
          <a:xfrm>
            <a:off x="517234" y="1121050"/>
            <a:ext cx="4170255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8" b="23906"/>
          <a:stretch/>
        </p:blipFill>
        <p:spPr>
          <a:xfrm>
            <a:off x="7630390" y="1110231"/>
            <a:ext cx="4127239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YOLO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53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Detection Model: YOLO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F1BD5A4-6CB2-FE99-30D8-5F9CAFD604BF}"/>
              </a:ext>
            </a:extLst>
          </p:cNvPr>
          <p:cNvGrpSpPr/>
          <p:nvPr/>
        </p:nvGrpSpPr>
        <p:grpSpPr>
          <a:xfrm>
            <a:off x="7452827" y="1058024"/>
            <a:ext cx="2778747" cy="2082957"/>
            <a:chOff x="8194052" y="2197203"/>
            <a:chExt cx="2778747" cy="2082957"/>
          </a:xfrm>
        </p:grpSpPr>
        <p:sp>
          <p:nvSpPr>
            <p:cNvPr id="3" name="Rectangle 2"/>
            <p:cNvSpPr/>
            <p:nvPr/>
          </p:nvSpPr>
          <p:spPr>
            <a:xfrm>
              <a:off x="8876145" y="2810908"/>
              <a:ext cx="997527" cy="63730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20382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975272" y="2810908"/>
              <a:ext cx="997527" cy="63730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209</a:t>
              </a:r>
              <a:endParaRPr lang="en-IN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876144" y="3525393"/>
              <a:ext cx="997527" cy="63730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254</a:t>
              </a:r>
              <a:endParaRPr lang="en-IN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975272" y="3525915"/>
              <a:ext cx="997527" cy="63730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NA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9489767" y="2197203"/>
              <a:ext cx="7777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Actual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 rot="16200000">
              <a:off x="7807792" y="3263550"/>
              <a:ext cx="11418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Prediction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FFC97F-664C-0B97-927F-A27E6C43E732}"/>
                </a:ext>
              </a:extLst>
            </p:cNvPr>
            <p:cNvSpPr txBox="1"/>
            <p:nvPr/>
          </p:nvSpPr>
          <p:spPr>
            <a:xfrm rot="16200000">
              <a:off x="8307881" y="3711895"/>
              <a:ext cx="8287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Negative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01D0678-58F3-64BD-7B91-6312C39E2EEF}"/>
                </a:ext>
              </a:extLst>
            </p:cNvPr>
            <p:cNvSpPr txBox="1"/>
            <p:nvPr/>
          </p:nvSpPr>
          <p:spPr>
            <a:xfrm rot="16200000">
              <a:off x="8335676" y="2965621"/>
              <a:ext cx="7532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Positive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FC102-3840-5C30-29AB-E8FB837B12DF}"/>
                </a:ext>
              </a:extLst>
            </p:cNvPr>
            <p:cNvSpPr txBox="1"/>
            <p:nvPr/>
          </p:nvSpPr>
          <p:spPr>
            <a:xfrm>
              <a:off x="8998297" y="2517220"/>
              <a:ext cx="7532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Positive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A7F922-F784-34F1-AE41-A1B86A60D549}"/>
                </a:ext>
              </a:extLst>
            </p:cNvPr>
            <p:cNvSpPr txBox="1"/>
            <p:nvPr/>
          </p:nvSpPr>
          <p:spPr>
            <a:xfrm>
              <a:off x="10005794" y="2517220"/>
              <a:ext cx="8287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dirty="0"/>
                <a:t>Negative</a:t>
              </a:r>
            </a:p>
          </p:txBody>
        </p:sp>
      </p:grpSp>
      <p:graphicFrame>
        <p:nvGraphicFramePr>
          <p:cNvPr id="23" name="Chart 22">
            <a:extLst>
              <a:ext uri="{FF2B5EF4-FFF2-40B4-BE49-F238E27FC236}">
                <a16:creationId xmlns:a16="http://schemas.microsoft.com/office/drawing/2014/main" id="{FE2E1160-8E2D-6C23-22CF-039A4EE90B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626531"/>
              </p:ext>
            </p:extLst>
          </p:nvPr>
        </p:nvGraphicFramePr>
        <p:xfrm>
          <a:off x="1049290" y="1125332"/>
          <a:ext cx="5456429" cy="4786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FA5D52F2-7B54-9E48-2C75-24D92CEEBBFB}"/>
              </a:ext>
            </a:extLst>
          </p:cNvPr>
          <p:cNvSpPr txBox="1"/>
          <p:nvPr/>
        </p:nvSpPr>
        <p:spPr>
          <a:xfrm>
            <a:off x="7383742" y="3397925"/>
            <a:ext cx="3295898" cy="2248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dirty="0"/>
              <a:t>📦 mAP@0.5  : 92.6%</a:t>
            </a:r>
          </a:p>
          <a:p>
            <a:pPr>
              <a:lnSpc>
                <a:spcPct val="150000"/>
              </a:lnSpc>
            </a:pPr>
            <a:r>
              <a:rPr lang="en-IN" sz="2400" dirty="0"/>
              <a:t>🎯 Precision    : 98.9%</a:t>
            </a:r>
          </a:p>
          <a:p>
            <a:pPr>
              <a:lnSpc>
                <a:spcPct val="150000"/>
              </a:lnSpc>
            </a:pPr>
            <a:r>
              <a:rPr lang="en-IN" sz="2400" dirty="0"/>
              <a:t>🔍 Recall          : 98.7%</a:t>
            </a:r>
          </a:p>
          <a:p>
            <a:pPr>
              <a:lnSpc>
                <a:spcPct val="150000"/>
              </a:lnSpc>
            </a:pPr>
            <a:r>
              <a:rPr lang="en-IN" sz="2400" dirty="0"/>
              <a:t>⚖️ F1 Score     : 98.8%</a:t>
            </a:r>
          </a:p>
        </p:txBody>
      </p:sp>
    </p:spTree>
    <p:extLst>
      <p:ext uri="{BB962C8B-B14F-4D97-AF65-F5344CB8AC3E}">
        <p14:creationId xmlns:p14="http://schemas.microsoft.com/office/powerpoint/2010/main" val="55715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Field Matching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A5317A-2FA1-2D4B-2387-4AB40B17E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" b="22128"/>
          <a:stretch>
            <a:fillRect/>
          </a:stretch>
        </p:blipFill>
        <p:spPr>
          <a:xfrm>
            <a:off x="6860302" y="1370703"/>
            <a:ext cx="5264739" cy="484753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CE822E9-D06D-E49B-B6F1-5F19BFFA8C42}"/>
              </a:ext>
            </a:extLst>
          </p:cNvPr>
          <p:cNvSpPr/>
          <p:nvPr/>
        </p:nvSpPr>
        <p:spPr>
          <a:xfrm>
            <a:off x="7108207" y="1825275"/>
            <a:ext cx="4732305" cy="4174698"/>
          </a:xfrm>
          <a:custGeom>
            <a:avLst/>
            <a:gdLst>
              <a:gd name="connsiteX0" fmla="*/ 0 w 4396902"/>
              <a:gd name="connsiteY0" fmla="*/ 0 h 4533082"/>
              <a:gd name="connsiteX1" fmla="*/ 4396902 w 4396902"/>
              <a:gd name="connsiteY1" fmla="*/ 0 h 4533082"/>
              <a:gd name="connsiteX2" fmla="*/ 4396902 w 4396902"/>
              <a:gd name="connsiteY2" fmla="*/ 4533082 h 4533082"/>
              <a:gd name="connsiteX3" fmla="*/ 0 w 4396902"/>
              <a:gd name="connsiteY3" fmla="*/ 4533082 h 4533082"/>
              <a:gd name="connsiteX4" fmla="*/ 0 w 4396902"/>
              <a:gd name="connsiteY4" fmla="*/ 0 h 4533082"/>
              <a:gd name="connsiteX0" fmla="*/ 0 w 4426085"/>
              <a:gd name="connsiteY0" fmla="*/ 0 h 4533082"/>
              <a:gd name="connsiteX1" fmla="*/ 4396902 w 4426085"/>
              <a:gd name="connsiteY1" fmla="*/ 0 h 4533082"/>
              <a:gd name="connsiteX2" fmla="*/ 4426085 w 4426085"/>
              <a:gd name="connsiteY2" fmla="*/ 4513627 h 4533082"/>
              <a:gd name="connsiteX3" fmla="*/ 0 w 4426085"/>
              <a:gd name="connsiteY3" fmla="*/ 4533082 h 4533082"/>
              <a:gd name="connsiteX4" fmla="*/ 0 w 4426085"/>
              <a:gd name="connsiteY4" fmla="*/ 0 h 4533082"/>
              <a:gd name="connsiteX0" fmla="*/ 0 w 4426085"/>
              <a:gd name="connsiteY0" fmla="*/ 0 h 4513627"/>
              <a:gd name="connsiteX1" fmla="*/ 4396902 w 4426085"/>
              <a:gd name="connsiteY1" fmla="*/ 0 h 4513627"/>
              <a:gd name="connsiteX2" fmla="*/ 4426085 w 4426085"/>
              <a:gd name="connsiteY2" fmla="*/ 4513627 h 4513627"/>
              <a:gd name="connsiteX3" fmla="*/ 29183 w 4426085"/>
              <a:gd name="connsiteY3" fmla="*/ 4503899 h 4513627"/>
              <a:gd name="connsiteX4" fmla="*/ 0 w 4426085"/>
              <a:gd name="connsiteY4" fmla="*/ 0 h 4513627"/>
              <a:gd name="connsiteX0" fmla="*/ 0 w 4426085"/>
              <a:gd name="connsiteY0" fmla="*/ 0 h 4503899"/>
              <a:gd name="connsiteX1" fmla="*/ 4396902 w 4426085"/>
              <a:gd name="connsiteY1" fmla="*/ 0 h 4503899"/>
              <a:gd name="connsiteX2" fmla="*/ 4426085 w 4426085"/>
              <a:gd name="connsiteY2" fmla="*/ 4469995 h 4503899"/>
              <a:gd name="connsiteX3" fmla="*/ 29183 w 4426085"/>
              <a:gd name="connsiteY3" fmla="*/ 4503899 h 4503899"/>
              <a:gd name="connsiteX4" fmla="*/ 0 w 4426085"/>
              <a:gd name="connsiteY4" fmla="*/ 0 h 4503899"/>
              <a:gd name="connsiteX0" fmla="*/ 0 w 4426085"/>
              <a:gd name="connsiteY0" fmla="*/ 0 h 4514807"/>
              <a:gd name="connsiteX1" fmla="*/ 4396902 w 4426085"/>
              <a:gd name="connsiteY1" fmla="*/ 0 h 4514807"/>
              <a:gd name="connsiteX2" fmla="*/ 4426085 w 4426085"/>
              <a:gd name="connsiteY2" fmla="*/ 4469995 h 4514807"/>
              <a:gd name="connsiteX3" fmla="*/ 10097 w 4426085"/>
              <a:gd name="connsiteY3" fmla="*/ 4514807 h 4514807"/>
              <a:gd name="connsiteX4" fmla="*/ 0 w 4426085"/>
              <a:gd name="connsiteY4" fmla="*/ 0 h 4514807"/>
              <a:gd name="connsiteX0" fmla="*/ 18841 w 4444926"/>
              <a:gd name="connsiteY0" fmla="*/ 0 h 4482083"/>
              <a:gd name="connsiteX1" fmla="*/ 4415743 w 4444926"/>
              <a:gd name="connsiteY1" fmla="*/ 0 h 4482083"/>
              <a:gd name="connsiteX2" fmla="*/ 4444926 w 4444926"/>
              <a:gd name="connsiteY2" fmla="*/ 4469995 h 4482083"/>
              <a:gd name="connsiteX3" fmla="*/ 309 w 4444926"/>
              <a:gd name="connsiteY3" fmla="*/ 4482083 h 4482083"/>
              <a:gd name="connsiteX4" fmla="*/ 18841 w 4444926"/>
              <a:gd name="connsiteY4" fmla="*/ 0 h 448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44926" h="4482083">
                <a:moveTo>
                  <a:pt x="18841" y="0"/>
                </a:moveTo>
                <a:lnTo>
                  <a:pt x="4415743" y="0"/>
                </a:lnTo>
                <a:lnTo>
                  <a:pt x="4444926" y="4469995"/>
                </a:lnTo>
                <a:lnTo>
                  <a:pt x="309" y="4482083"/>
                </a:lnTo>
                <a:cubicBezTo>
                  <a:pt x="-3057" y="2977147"/>
                  <a:pt x="22207" y="1504936"/>
                  <a:pt x="18841" y="0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43A088-93D7-1502-128B-DF9F441EA95C}"/>
              </a:ext>
            </a:extLst>
          </p:cNvPr>
          <p:cNvSpPr/>
          <p:nvPr/>
        </p:nvSpPr>
        <p:spPr>
          <a:xfrm>
            <a:off x="8725333" y="1963622"/>
            <a:ext cx="1432992" cy="214011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C69F9-F0BB-CC64-2DBE-FF47416894B9}"/>
              </a:ext>
            </a:extLst>
          </p:cNvPr>
          <p:cNvSpPr/>
          <p:nvPr/>
        </p:nvSpPr>
        <p:spPr>
          <a:xfrm>
            <a:off x="646544" y="2233252"/>
            <a:ext cx="1384570" cy="992214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Input Form</a:t>
            </a:r>
          </a:p>
          <a:p>
            <a:pPr algn="ctr"/>
            <a:r>
              <a:rPr lang="en-US" dirty="0"/>
              <a:t>Bounding Boxes</a:t>
            </a:r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F02554-8A7A-79DA-A1BD-9D72DC9405BD}"/>
              </a:ext>
            </a:extLst>
          </p:cNvPr>
          <p:cNvSpPr/>
          <p:nvPr/>
        </p:nvSpPr>
        <p:spPr>
          <a:xfrm>
            <a:off x="646544" y="3692399"/>
            <a:ext cx="1384570" cy="992214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Ref. Form Bounding Boxes</a:t>
            </a:r>
            <a:endParaRPr lang="en-IN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478FEB-3E54-70CD-2DC7-6BD96FAB88FB}"/>
              </a:ext>
            </a:extLst>
          </p:cNvPr>
          <p:cNvSpPr/>
          <p:nvPr/>
        </p:nvSpPr>
        <p:spPr>
          <a:xfrm>
            <a:off x="2675566" y="2477732"/>
            <a:ext cx="784698" cy="503253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Norm</a:t>
            </a:r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1F33F4-59E7-B6F0-2E36-18ADD79DA13B}"/>
              </a:ext>
            </a:extLst>
          </p:cNvPr>
          <p:cNvSpPr/>
          <p:nvPr/>
        </p:nvSpPr>
        <p:spPr>
          <a:xfrm>
            <a:off x="2675566" y="3936880"/>
            <a:ext cx="784698" cy="503253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Norm</a:t>
            </a:r>
            <a:endParaRPr lang="en-IN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9BBC49-9C29-ACCD-CE37-8551C72BED78}"/>
              </a:ext>
            </a:extLst>
          </p:cNvPr>
          <p:cNvSpPr/>
          <p:nvPr/>
        </p:nvSpPr>
        <p:spPr>
          <a:xfrm>
            <a:off x="4180111" y="3219432"/>
            <a:ext cx="784698" cy="503253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IOU</a:t>
            </a:r>
            <a:endParaRPr lang="en-IN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572F1B-F872-8FC7-1FA4-46CB3803494D}"/>
              </a:ext>
            </a:extLst>
          </p:cNvPr>
          <p:cNvCxnSpPr>
            <a:stCxn id="13" idx="3"/>
            <a:endCxn id="17" idx="1"/>
          </p:cNvCxnSpPr>
          <p:nvPr/>
        </p:nvCxnSpPr>
        <p:spPr>
          <a:xfrm>
            <a:off x="2031114" y="2729359"/>
            <a:ext cx="644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50C580A-A36F-ADC7-EA22-E53EFD889718}"/>
              </a:ext>
            </a:extLst>
          </p:cNvPr>
          <p:cNvCxnSpPr/>
          <p:nvPr/>
        </p:nvCxnSpPr>
        <p:spPr>
          <a:xfrm>
            <a:off x="2029084" y="4188506"/>
            <a:ext cx="644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51A840-E69E-BB50-D3E2-1CC891B7402C}"/>
              </a:ext>
            </a:extLst>
          </p:cNvPr>
          <p:cNvCxnSpPr>
            <a:stCxn id="17" idx="3"/>
            <a:endCxn id="19" idx="0"/>
          </p:cNvCxnSpPr>
          <p:nvPr/>
        </p:nvCxnSpPr>
        <p:spPr>
          <a:xfrm>
            <a:off x="3460264" y="2729359"/>
            <a:ext cx="1112196" cy="4900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08C217E6-A50A-94C6-89F2-18B168F0D09D}"/>
              </a:ext>
            </a:extLst>
          </p:cNvPr>
          <p:cNvCxnSpPr>
            <a:stCxn id="18" idx="3"/>
            <a:endCxn id="19" idx="2"/>
          </p:cNvCxnSpPr>
          <p:nvPr/>
        </p:nvCxnSpPr>
        <p:spPr>
          <a:xfrm flipV="1">
            <a:off x="3460264" y="3722685"/>
            <a:ext cx="1112196" cy="465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3311ED0-01F7-19C1-06FC-7E494398EEC6}"/>
              </a:ext>
            </a:extLst>
          </p:cNvPr>
          <p:cNvCxnSpPr/>
          <p:nvPr/>
        </p:nvCxnSpPr>
        <p:spPr>
          <a:xfrm>
            <a:off x="4964809" y="3471058"/>
            <a:ext cx="644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75EB5DC-FE4B-BCB5-D755-CEE0A3E83947}"/>
              </a:ext>
            </a:extLst>
          </p:cNvPr>
          <p:cNvSpPr txBox="1"/>
          <p:nvPr/>
        </p:nvSpPr>
        <p:spPr>
          <a:xfrm>
            <a:off x="5609261" y="3251597"/>
            <a:ext cx="806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Field </a:t>
            </a:r>
          </a:p>
          <a:p>
            <a:pPr algn="ctr"/>
            <a:r>
              <a:rPr lang="en-US" dirty="0"/>
              <a:t>names</a:t>
            </a:r>
            <a:endParaRPr lang="en-IN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6CBA9E8-ED60-7B4D-5CD8-C3A41A35FCD3}"/>
              </a:ext>
            </a:extLst>
          </p:cNvPr>
          <p:cNvCxnSpPr/>
          <p:nvPr/>
        </p:nvCxnSpPr>
        <p:spPr>
          <a:xfrm>
            <a:off x="6553200" y="1148080"/>
            <a:ext cx="0" cy="5070154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7F51D94-D247-E24C-986B-FCF177C2F182}"/>
              </a:ext>
            </a:extLst>
          </p:cNvPr>
          <p:cNvSpPr txBox="1"/>
          <p:nvPr/>
        </p:nvSpPr>
        <p:spPr>
          <a:xfrm>
            <a:off x="8806613" y="990709"/>
            <a:ext cx="1538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Normalization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61128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30" grpId="0"/>
      <p:bldP spid="3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OCR Model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2891BD5-426E-481B-8DF3-CE93FF5E592A}"/>
              </a:ext>
            </a:extLst>
          </p:cNvPr>
          <p:cNvGrpSpPr/>
          <p:nvPr/>
        </p:nvGrpSpPr>
        <p:grpSpPr>
          <a:xfrm>
            <a:off x="3603076" y="1476378"/>
            <a:ext cx="2679530" cy="618836"/>
            <a:chOff x="3603076" y="1476378"/>
            <a:chExt cx="2679530" cy="61883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E08879D-02A8-206F-A262-2FEDA1EEF792}"/>
                </a:ext>
              </a:extLst>
            </p:cNvPr>
            <p:cNvSpPr/>
            <p:nvPr/>
          </p:nvSpPr>
          <p:spPr>
            <a:xfrm>
              <a:off x="5229661" y="1476378"/>
              <a:ext cx="1052945" cy="618836"/>
            </a:xfrm>
            <a:prstGeom prst="rect">
              <a:avLst/>
            </a:prstGeom>
            <a:solidFill>
              <a:srgbClr val="2C466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 err="1"/>
                <a:t>TrOCR</a:t>
              </a:r>
              <a:endParaRPr lang="en-IN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41E486B-4AFE-022E-8043-FF07C9B3C3D9}"/>
                </a:ext>
              </a:extLst>
            </p:cNvPr>
            <p:cNvCxnSpPr>
              <a:cxnSpLocks/>
            </p:cNvCxnSpPr>
            <p:nvPr/>
          </p:nvCxnSpPr>
          <p:spPr>
            <a:xfrm>
              <a:off x="3603076" y="1785796"/>
              <a:ext cx="150192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009C723-6557-9062-804D-A7B9B79851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844168"/>
              </p:ext>
            </p:extLst>
          </p:nvPr>
        </p:nvGraphicFramePr>
        <p:xfrm>
          <a:off x="4424239" y="2794143"/>
          <a:ext cx="266469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2346">
                  <a:extLst>
                    <a:ext uri="{9D8B030D-6E8A-4147-A177-3AD203B41FA5}">
                      <a16:colId xmlns:a16="http://schemas.microsoft.com/office/drawing/2014/main" val="2792863021"/>
                    </a:ext>
                  </a:extLst>
                </a:gridCol>
                <a:gridCol w="1332346">
                  <a:extLst>
                    <a:ext uri="{9D8B030D-6E8A-4147-A177-3AD203B41FA5}">
                      <a16:colId xmlns:a16="http://schemas.microsoft.com/office/drawing/2014/main" val="29526659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056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Type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ViT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858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Version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TrOCR</a:t>
                      </a:r>
                      <a:r>
                        <a:rPr lang="en-US" dirty="0"/>
                        <a:t>-Large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170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Pre-Trained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IAM Dataset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36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580M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248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Input Size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1000x1000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5356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IOU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57576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6C1EF907-56AF-53A7-CC08-B1D8084FEF9C}"/>
              </a:ext>
            </a:extLst>
          </p:cNvPr>
          <p:cNvGrpSpPr/>
          <p:nvPr/>
        </p:nvGrpSpPr>
        <p:grpSpPr>
          <a:xfrm>
            <a:off x="1301726" y="2787039"/>
            <a:ext cx="2504706" cy="2602984"/>
            <a:chOff x="1301726" y="2787039"/>
            <a:chExt cx="2504706" cy="26029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1421F50-3CCC-8E53-DB3A-519967E06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40516" y="3044613"/>
              <a:ext cx="2192341" cy="32550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9F32D3F-54E2-F6F7-7BB4-4A9BF33B3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0736" y="4070421"/>
              <a:ext cx="2192340" cy="29698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2B7B175-CCAA-E110-7575-3571C2EC1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38224" y="4958003"/>
              <a:ext cx="796923" cy="42439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82ABFBC-7309-44EB-658E-775F9D38C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762" y="3586692"/>
              <a:ext cx="2192340" cy="348155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914D98B-6A85-E2E7-45B2-B980BD7F4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6816" y="4477269"/>
              <a:ext cx="1914525" cy="394409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8A978B2-EB48-2F5F-6BE7-BA884D49AE5C}"/>
                </a:ext>
              </a:extLst>
            </p:cNvPr>
            <p:cNvSpPr/>
            <p:nvPr/>
          </p:nvSpPr>
          <p:spPr>
            <a:xfrm>
              <a:off x="1301726" y="2787039"/>
              <a:ext cx="2504706" cy="2602984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FE7D7A8-7EB2-DC1B-81B6-DE1D113D23C2}"/>
              </a:ext>
            </a:extLst>
          </p:cNvPr>
          <p:cNvSpPr txBox="1"/>
          <p:nvPr/>
        </p:nvSpPr>
        <p:spPr>
          <a:xfrm>
            <a:off x="1612828" y="1543474"/>
            <a:ext cx="18825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Cropped Fields</a:t>
            </a:r>
            <a:endParaRPr lang="en-IN" sz="22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023934B-17C6-70BA-7296-C8463474A425}"/>
              </a:ext>
            </a:extLst>
          </p:cNvPr>
          <p:cNvGrpSpPr/>
          <p:nvPr/>
        </p:nvGrpSpPr>
        <p:grpSpPr>
          <a:xfrm>
            <a:off x="6411951" y="1543474"/>
            <a:ext cx="2453600" cy="430887"/>
            <a:chOff x="6411951" y="1543474"/>
            <a:chExt cx="2453600" cy="430887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BB07394-E70E-D2E4-078D-F1DBAB28C32D}"/>
                </a:ext>
              </a:extLst>
            </p:cNvPr>
            <p:cNvCxnSpPr>
              <a:cxnSpLocks/>
            </p:cNvCxnSpPr>
            <p:nvPr/>
          </p:nvCxnSpPr>
          <p:spPr>
            <a:xfrm>
              <a:off x="6411951" y="1793078"/>
              <a:ext cx="16557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53FE0A-F5D4-0563-167C-F212A60DEFEE}"/>
                </a:ext>
              </a:extLst>
            </p:cNvPr>
            <p:cNvSpPr txBox="1"/>
            <p:nvPr/>
          </p:nvSpPr>
          <p:spPr>
            <a:xfrm>
              <a:off x="8214091" y="1543474"/>
              <a:ext cx="65146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Text</a:t>
              </a:r>
              <a:endParaRPr lang="en-IN" sz="2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E873474-60F2-B310-4B45-2512638A8492}"/>
              </a:ext>
            </a:extLst>
          </p:cNvPr>
          <p:cNvGrpSpPr/>
          <p:nvPr/>
        </p:nvGrpSpPr>
        <p:grpSpPr>
          <a:xfrm>
            <a:off x="7595980" y="2787039"/>
            <a:ext cx="3582327" cy="2602984"/>
            <a:chOff x="7595980" y="2787039"/>
            <a:chExt cx="3582327" cy="260298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078E73-D8D4-EE10-0D08-E6EFAAB25CF0}"/>
                </a:ext>
              </a:extLst>
            </p:cNvPr>
            <p:cNvSpPr txBox="1"/>
            <p:nvPr/>
          </p:nvSpPr>
          <p:spPr>
            <a:xfrm>
              <a:off x="7595980" y="2787039"/>
              <a:ext cx="3582327" cy="2506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HNO 133, Bala </a:t>
              </a:r>
              <a:r>
                <a:rPr lang="en-US" sz="2000" dirty="0" err="1"/>
                <a:t>Circke</a:t>
              </a:r>
              <a:r>
                <a:rPr lang="en-US" sz="2000" dirty="0"/>
                <a:t>, </a:t>
              </a:r>
              <a:r>
                <a:rPr lang="en-US" sz="2000" dirty="0" err="1"/>
                <a:t>Bongaigan</a:t>
              </a:r>
              <a:endParaRPr lang="en-US" sz="2000" dirty="0"/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Dayita Bakshi</a:t>
              </a:r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358086000000</a:t>
              </a:r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06/07/2023</a:t>
              </a:r>
            </a:p>
            <a:p>
              <a:pPr algn="ctr">
                <a:lnSpc>
                  <a:spcPct val="150000"/>
                </a:lnSpc>
                <a:spcAft>
                  <a:spcPts val="300"/>
                </a:spcAft>
              </a:pPr>
              <a:r>
                <a:rPr lang="en-US" sz="2000" dirty="0"/>
                <a:t>A+</a:t>
              </a:r>
              <a:endParaRPr lang="en-IN" sz="20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F542FB6-C40D-8B55-0C15-E816E412D491}"/>
                </a:ext>
              </a:extLst>
            </p:cNvPr>
            <p:cNvSpPr/>
            <p:nvPr/>
          </p:nvSpPr>
          <p:spPr>
            <a:xfrm>
              <a:off x="7628263" y="2787039"/>
              <a:ext cx="3550043" cy="2602984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3067707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OCR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AB24B8-C22A-2C57-BAC0-034D270E01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317875"/>
              </p:ext>
            </p:extLst>
          </p:nvPr>
        </p:nvGraphicFramePr>
        <p:xfrm>
          <a:off x="675322" y="1463039"/>
          <a:ext cx="4722828" cy="23548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A66C130-63A1-07B4-7DC9-21084E8F38B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6345641"/>
              </p:ext>
            </p:extLst>
          </p:nvPr>
        </p:nvGraphicFramePr>
        <p:xfrm>
          <a:off x="5637230" y="1463039"/>
          <a:ext cx="4722828" cy="23548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4840932-1902-476F-870B-66640F7DC985}"/>
              </a:ext>
            </a:extLst>
          </p:cNvPr>
          <p:cNvSpPr txBox="1"/>
          <p:nvPr/>
        </p:nvSpPr>
        <p:spPr>
          <a:xfrm>
            <a:off x="2764065" y="1463039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CER</a:t>
            </a:r>
            <a:endParaRPr lang="en-IN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26B400-A8A4-36C5-B8F1-4C2BC109FC08}"/>
              </a:ext>
            </a:extLst>
          </p:cNvPr>
          <p:cNvSpPr txBox="1"/>
          <p:nvPr/>
        </p:nvSpPr>
        <p:spPr>
          <a:xfrm>
            <a:off x="7725973" y="1505081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WER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576147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Layout Aware Error Correction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11832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Benchmarks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90430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Final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9042CB20-ED86-6031-CCD0-AC67A94355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7312530"/>
              </p:ext>
            </p:extLst>
          </p:nvPr>
        </p:nvGraphicFramePr>
        <p:xfrm>
          <a:off x="646544" y="1125333"/>
          <a:ext cx="4572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56018"/>
              </p:ext>
            </p:extLst>
          </p:nvPr>
        </p:nvGraphicFramePr>
        <p:xfrm>
          <a:off x="5866014" y="1162215"/>
          <a:ext cx="5239212" cy="30112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4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4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36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7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Model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WER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Field Accuracy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Final Score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YOLO + Tesseract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72.54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159.32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2.24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-10.81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Custom 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37.58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46.93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62.58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40.51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TrOCR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29.79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114.12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6.27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20.56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21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YOLO + </a:t>
                      </a:r>
                      <a:r>
                        <a:rPr lang="en-US" sz="1600" b="1" dirty="0" err="1">
                          <a:effectLst/>
                        </a:rPr>
                        <a:t>TrOCR</a:t>
                      </a:r>
                      <a:r>
                        <a:rPr lang="en-US" sz="1600" b="1" dirty="0">
                          <a:effectLst/>
                        </a:rPr>
                        <a:t> + Layout Aware Post Processing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effectLst/>
                        </a:rPr>
                        <a:t>15.82</a:t>
                      </a:r>
                      <a:endParaRPr lang="en-IN" sz="1600" b="1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41.62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47.52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57.02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8926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Final Results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BBF3BAB-B971-ED80-9613-D3B8849403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9676024"/>
              </p:ext>
            </p:extLst>
          </p:nvPr>
        </p:nvGraphicFramePr>
        <p:xfrm>
          <a:off x="675322" y="1463040"/>
          <a:ext cx="5568314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83EC7115-C3EB-A3C4-7D04-8EC148A0C8F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5204179"/>
              </p:ext>
            </p:extLst>
          </p:nvPr>
        </p:nvGraphicFramePr>
        <p:xfrm>
          <a:off x="6243636" y="1463040"/>
          <a:ext cx="5283345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5822245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8F36C-C174-3DD7-2982-101F54D0D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69A2C73-CFA3-41DE-5168-A2A6C647DEAD}"/>
              </a:ext>
            </a:extLst>
          </p:cNvPr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3C2AE1-A44E-5914-D4F4-6E36292BB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Challenges and Learnings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BB96A-D0E1-08E9-EDE7-DF9A371DF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Statement</a:t>
            </a:r>
            <a:endParaRPr lang="en-IN" sz="1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D19FF27-F64A-CF0B-91CB-C13021FE972A}"/>
              </a:ext>
            </a:extLst>
          </p:cNvPr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F72EF21-4C2A-2620-22E1-E5A640ED9D9F}"/>
              </a:ext>
            </a:extLst>
          </p:cNvPr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1C16D0-D201-BB8B-3102-DF2941AC1B79}"/>
              </a:ext>
            </a:extLst>
          </p:cNvPr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694A4-31A0-8726-B890-3C87A815E37D}"/>
              </a:ext>
            </a:extLst>
          </p:cNvPr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58A8C5A-03E0-A69C-7952-458D1B7C4F35}"/>
              </a:ext>
            </a:extLst>
          </p:cNvPr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3CCA8E-00DC-4573-B193-E5662698E46C}"/>
              </a:ext>
            </a:extLst>
          </p:cNvPr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BE20197-01FC-20ED-C603-BA5F555E0C88}"/>
              </a:ext>
            </a:extLst>
          </p:cNvPr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12777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14433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76276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16664</TotalTime>
  <Words>526</Words>
  <Application>Microsoft Office PowerPoint</Application>
  <PresentationFormat>Widescreen</PresentationFormat>
  <Paragraphs>256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Calibri Light</vt:lpstr>
      <vt:lpstr>Cambria</vt:lpstr>
      <vt:lpstr>Georgia</vt:lpstr>
      <vt:lpstr>Times New Roman</vt:lpstr>
      <vt:lpstr>Wingdings</vt:lpstr>
      <vt:lpstr>Office Theme</vt:lpstr>
      <vt:lpstr>Handwritten Form Recognition using YOLO and TrOCR with Layout Aware Error Correction</vt:lpstr>
      <vt:lpstr>Agenda</vt:lpstr>
      <vt:lpstr>Team Introduction</vt:lpstr>
      <vt:lpstr>Problem Statement</vt:lpstr>
      <vt:lpstr>Related Work</vt:lpstr>
      <vt:lpstr>Dataset Overview</vt:lpstr>
      <vt:lpstr>Model Architecture</vt:lpstr>
      <vt:lpstr>Field Detection Model</vt:lpstr>
      <vt:lpstr>Field Detection Model: YOLO</vt:lpstr>
      <vt:lpstr>Field Detection Model: YOLO Results</vt:lpstr>
      <vt:lpstr>Field Matching</vt:lpstr>
      <vt:lpstr>OCR Model</vt:lpstr>
      <vt:lpstr>OCR Results</vt:lpstr>
      <vt:lpstr>Layout Aware Error Correction</vt:lpstr>
      <vt:lpstr>Benchmarks</vt:lpstr>
      <vt:lpstr>Final Results</vt:lpstr>
      <vt:lpstr>Final Results</vt:lpstr>
      <vt:lpstr>Challenges and Learnings</vt:lpstr>
      <vt:lpstr>Future Work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Powered Technological Advancements in Industrial Systems</dc:title>
  <dc:creator>Muthukumar G</dc:creator>
  <cp:lastModifiedBy>manju.sathasivam@outlook.com</cp:lastModifiedBy>
  <cp:revision>332</cp:revision>
  <dcterms:created xsi:type="dcterms:W3CDTF">2025-05-06T11:45:32Z</dcterms:created>
  <dcterms:modified xsi:type="dcterms:W3CDTF">2025-07-18T02:41:22Z</dcterms:modified>
</cp:coreProperties>
</file>