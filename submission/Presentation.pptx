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5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1" r:id="rId9"/>
    <p:sldId id="263" r:id="rId10"/>
    <p:sldId id="272" r:id="rId11"/>
    <p:sldId id="264" r:id="rId12"/>
    <p:sldId id="274" r:id="rId13"/>
    <p:sldId id="268" r:id="rId14"/>
    <p:sldId id="265" r:id="rId15"/>
    <p:sldId id="266" r:id="rId16"/>
    <p:sldId id="273" r:id="rId17"/>
    <p:sldId id="267" r:id="rId18"/>
    <p:sldId id="269" r:id="rId19"/>
    <p:sldId id="270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4E79"/>
    <a:srgbClr val="2C466B"/>
    <a:srgbClr val="FFFEF9"/>
    <a:srgbClr val="8BADDE"/>
    <a:srgbClr val="5B9BD5"/>
    <a:srgbClr val="89AEDB"/>
    <a:srgbClr val="3D64A0"/>
    <a:srgbClr val="DE7428"/>
    <a:srgbClr val="3C649F"/>
    <a:srgbClr val="4A79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61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14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F:\Muthu_2023\Personal\NextStep\Hackathon\DeHaDo_AI\tokenwise-dehado-ai\results\Final\Plot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F:\Muthu_2023\Personal\NextStep\Hackathon\DeHaDo_AI\tokenwise-dehado-ai\results\Final\Plot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F:\Muthu_2023\Personal\NextStep\Hackathon\DeHaDo_AI\tokenwise-dehado-ai\results\Final\Plots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Sheet4!$B$1</c:f>
              <c:strCache>
                <c:ptCount val="1"/>
                <c:pt idx="0">
                  <c:v>Custom CTC Model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Sheet4!$A$2:$A$5</c:f>
              <c:strCache>
                <c:ptCount val="4"/>
                <c:pt idx="0">
                  <c:v>CER</c:v>
                </c:pt>
                <c:pt idx="1">
                  <c:v>WER</c:v>
                </c:pt>
                <c:pt idx="2">
                  <c:v>Field Accuracy</c:v>
                </c:pt>
                <c:pt idx="3">
                  <c:v>Final Score</c:v>
                </c:pt>
              </c:strCache>
            </c:strRef>
          </c:cat>
          <c:val>
            <c:numRef>
              <c:f>Sheet4!$B$2:$B$5</c:f>
              <c:numCache>
                <c:formatCode>General</c:formatCode>
                <c:ptCount val="4"/>
                <c:pt idx="0">
                  <c:v>37.58</c:v>
                </c:pt>
                <c:pt idx="1">
                  <c:v>46.93</c:v>
                </c:pt>
                <c:pt idx="2">
                  <c:v>62.58</c:v>
                </c:pt>
                <c:pt idx="3">
                  <c:v>40.51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0-EA43-4032-93DE-8D90180C3211}"/>
            </c:ext>
          </c:extLst>
        </c:ser>
        <c:ser>
          <c:idx val="1"/>
          <c:order val="1"/>
          <c:tx>
            <c:strRef>
              <c:f>Sheet4!$C$1</c:f>
              <c:strCache>
                <c:ptCount val="1"/>
                <c:pt idx="0">
                  <c:v>TrOCR Model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Sheet4!$A$2:$A$5</c:f>
              <c:strCache>
                <c:ptCount val="4"/>
                <c:pt idx="0">
                  <c:v>CER</c:v>
                </c:pt>
                <c:pt idx="1">
                  <c:v>WER</c:v>
                </c:pt>
                <c:pt idx="2">
                  <c:v>Field Accuracy</c:v>
                </c:pt>
                <c:pt idx="3">
                  <c:v>Final Score</c:v>
                </c:pt>
              </c:strCache>
            </c:strRef>
          </c:cat>
          <c:val>
            <c:numRef>
              <c:f>Sheet4!$C$2:$C$5</c:f>
              <c:numCache>
                <c:formatCode>General</c:formatCode>
                <c:ptCount val="4"/>
                <c:pt idx="0">
                  <c:v>15.82</c:v>
                </c:pt>
                <c:pt idx="1">
                  <c:v>41.62</c:v>
                </c:pt>
                <c:pt idx="2">
                  <c:v>47.52</c:v>
                </c:pt>
                <c:pt idx="3">
                  <c:v>57.02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1-EA43-4032-93DE-8D90180C32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297783712"/>
        <c:axId val="1297782032"/>
      </c:barChart>
      <c:catAx>
        <c:axId val="12977837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97782032"/>
        <c:crosses val="autoZero"/>
        <c:auto val="1"/>
        <c:lblAlgn val="ctr"/>
        <c:lblOffset val="100"/>
        <c:noMultiLvlLbl val="0"/>
      </c:catAx>
      <c:valAx>
        <c:axId val="12977820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977837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Sheet2!$B$1</c:f>
              <c:strCache>
                <c:ptCount val="1"/>
                <c:pt idx="0">
                  <c:v>CER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Sheet2!$A$2:$A$22</c:f>
              <c:strCache>
                <c:ptCount val="21"/>
                <c:pt idx="0">
                  <c:v>aadhaarcard</c:v>
                </c:pt>
                <c:pt idx="1">
                  <c:v>date</c:v>
                </c:pt>
                <c:pt idx="2">
                  <c:v>Dateofbirth</c:v>
                </c:pt>
                <c:pt idx="3">
                  <c:v>permanentaddress</c:v>
                </c:pt>
                <c:pt idx="4">
                  <c:v>presentaddress</c:v>
                </c:pt>
                <c:pt idx="5">
                  <c:v>pancard</c:v>
                </c:pt>
                <c:pt idx="6">
                  <c:v>bloodgroup</c:v>
                </c:pt>
                <c:pt idx="7">
                  <c:v>experience1</c:v>
                </c:pt>
                <c:pt idx="8">
                  <c:v>experience</c:v>
                </c:pt>
                <c:pt idx="9">
                  <c:v>referencescmob1</c:v>
                </c:pt>
                <c:pt idx="10">
                  <c:v>referencescmob2</c:v>
                </c:pt>
                <c:pt idx="11">
                  <c:v>Fatherhusbandname</c:v>
                </c:pt>
                <c:pt idx="12">
                  <c:v>candidatename</c:v>
                </c:pt>
                <c:pt idx="13">
                  <c:v>contactnumber</c:v>
                </c:pt>
                <c:pt idx="14">
                  <c:v>AlternateNo</c:v>
                </c:pt>
                <c:pt idx="15">
                  <c:v>place</c:v>
                </c:pt>
                <c:pt idx="16">
                  <c:v>qualification</c:v>
                </c:pt>
                <c:pt idx="17">
                  <c:v>nationality</c:v>
                </c:pt>
                <c:pt idx="18">
                  <c:v>languageknown</c:v>
                </c:pt>
                <c:pt idx="19">
                  <c:v>maritalstatus</c:v>
                </c:pt>
                <c:pt idx="20">
                  <c:v>gender</c:v>
                </c:pt>
              </c:strCache>
            </c:strRef>
          </c:cat>
          <c:val>
            <c:numRef>
              <c:f>Sheet2!$B$2:$B$22</c:f>
              <c:numCache>
                <c:formatCode>General</c:formatCode>
                <c:ptCount val="21"/>
                <c:pt idx="0">
                  <c:v>68.130779392338098</c:v>
                </c:pt>
                <c:pt idx="1">
                  <c:v>28.867505551443301</c:v>
                </c:pt>
                <c:pt idx="2">
                  <c:v>28.046421663442899</c:v>
                </c:pt>
                <c:pt idx="3">
                  <c:v>24.747729566094801</c:v>
                </c:pt>
                <c:pt idx="4">
                  <c:v>24.1718946047678</c:v>
                </c:pt>
                <c:pt idx="5">
                  <c:v>16.057692307692299</c:v>
                </c:pt>
                <c:pt idx="6">
                  <c:v>15.9958720330237</c:v>
                </c:pt>
                <c:pt idx="7">
                  <c:v>14.9511831871586</c:v>
                </c:pt>
                <c:pt idx="8">
                  <c:v>14.3938763624261</c:v>
                </c:pt>
                <c:pt idx="9">
                  <c:v>12.272016675351701</c:v>
                </c:pt>
                <c:pt idx="10">
                  <c:v>11.113043478260799</c:v>
                </c:pt>
                <c:pt idx="11">
                  <c:v>10.8283703302652</c:v>
                </c:pt>
                <c:pt idx="12">
                  <c:v>9.6209386281588394</c:v>
                </c:pt>
                <c:pt idx="13">
                  <c:v>8.8888888888888893</c:v>
                </c:pt>
                <c:pt idx="14">
                  <c:v>8.7640449438202204</c:v>
                </c:pt>
                <c:pt idx="15">
                  <c:v>8.6285195277020801</c:v>
                </c:pt>
                <c:pt idx="16">
                  <c:v>5.6635202665186002</c:v>
                </c:pt>
                <c:pt idx="17">
                  <c:v>5.5177626606198</c:v>
                </c:pt>
                <c:pt idx="18">
                  <c:v>4.2248413417951003</c:v>
                </c:pt>
                <c:pt idx="19">
                  <c:v>2.42686170212765</c:v>
                </c:pt>
                <c:pt idx="20">
                  <c:v>1.11806797853309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0-1030-493C-AD1F-E53095F66D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053890864"/>
        <c:axId val="1053894784"/>
      </c:barChart>
      <c:catAx>
        <c:axId val="10538908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53894784"/>
        <c:crosses val="autoZero"/>
        <c:auto val="1"/>
        <c:lblAlgn val="ctr"/>
        <c:lblOffset val="100"/>
        <c:noMultiLvlLbl val="0"/>
      </c:catAx>
      <c:valAx>
        <c:axId val="10538947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5389086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 rot="0" vert="horz"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Sheet2!$E$1</c:f>
              <c:strCache>
                <c:ptCount val="1"/>
                <c:pt idx="0">
                  <c:v>WER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Sheet2!$D$2:$D$22</c:f>
              <c:strCache>
                <c:ptCount val="21"/>
                <c:pt idx="0">
                  <c:v>aadhaarcard</c:v>
                </c:pt>
                <c:pt idx="1">
                  <c:v>permanentaddress</c:v>
                </c:pt>
                <c:pt idx="2">
                  <c:v>presentaddress</c:v>
                </c:pt>
                <c:pt idx="3">
                  <c:v>date</c:v>
                </c:pt>
                <c:pt idx="4">
                  <c:v>Dateofbirth</c:v>
                </c:pt>
                <c:pt idx="5">
                  <c:v>pancard</c:v>
                </c:pt>
                <c:pt idx="6">
                  <c:v>contactnumber</c:v>
                </c:pt>
                <c:pt idx="7">
                  <c:v>AlternateNo</c:v>
                </c:pt>
                <c:pt idx="8">
                  <c:v>referencescmob1</c:v>
                </c:pt>
                <c:pt idx="9">
                  <c:v>referencescmob2</c:v>
                </c:pt>
                <c:pt idx="10">
                  <c:v>experience1</c:v>
                </c:pt>
                <c:pt idx="11">
                  <c:v>Fatherhusbandname</c:v>
                </c:pt>
                <c:pt idx="12">
                  <c:v>experience</c:v>
                </c:pt>
                <c:pt idx="13">
                  <c:v>bloodgroup</c:v>
                </c:pt>
                <c:pt idx="14">
                  <c:v>candidatename</c:v>
                </c:pt>
                <c:pt idx="15">
                  <c:v>place</c:v>
                </c:pt>
                <c:pt idx="16">
                  <c:v>qualification</c:v>
                </c:pt>
                <c:pt idx="17">
                  <c:v>nationality</c:v>
                </c:pt>
                <c:pt idx="18">
                  <c:v>languageknown</c:v>
                </c:pt>
                <c:pt idx="19">
                  <c:v>maritalstatus</c:v>
                </c:pt>
                <c:pt idx="20">
                  <c:v>gender</c:v>
                </c:pt>
              </c:strCache>
            </c:strRef>
          </c:cat>
          <c:val>
            <c:numRef>
              <c:f>Sheet2!$E$2:$E$22</c:f>
              <c:numCache>
                <c:formatCode>General</c:formatCode>
                <c:ptCount val="21"/>
                <c:pt idx="0">
                  <c:v>102.222222222222</c:v>
                </c:pt>
                <c:pt idx="1">
                  <c:v>75.081206496519698</c:v>
                </c:pt>
                <c:pt idx="2">
                  <c:v>71.925011431184203</c:v>
                </c:pt>
                <c:pt idx="3">
                  <c:v>68.721461187214601</c:v>
                </c:pt>
                <c:pt idx="4">
                  <c:v>67.561521252796396</c:v>
                </c:pt>
                <c:pt idx="5">
                  <c:v>64.423076923076906</c:v>
                </c:pt>
                <c:pt idx="6">
                  <c:v>48.4444444444444</c:v>
                </c:pt>
                <c:pt idx="7">
                  <c:v>46.966292134831399</c:v>
                </c:pt>
                <c:pt idx="8">
                  <c:v>38.9444444444444</c:v>
                </c:pt>
                <c:pt idx="9">
                  <c:v>37.2222222222222</c:v>
                </c:pt>
                <c:pt idx="10">
                  <c:v>35.437881873727001</c:v>
                </c:pt>
                <c:pt idx="11">
                  <c:v>35.267857142857103</c:v>
                </c:pt>
                <c:pt idx="12">
                  <c:v>34.472817133443101</c:v>
                </c:pt>
                <c:pt idx="13">
                  <c:v>33.957845433255201</c:v>
                </c:pt>
                <c:pt idx="14">
                  <c:v>33.2962138084632</c:v>
                </c:pt>
                <c:pt idx="15">
                  <c:v>16.252821670428801</c:v>
                </c:pt>
                <c:pt idx="16">
                  <c:v>12.2895622895622</c:v>
                </c:pt>
                <c:pt idx="17">
                  <c:v>9.2970521541950095</c:v>
                </c:pt>
                <c:pt idx="18">
                  <c:v>8.8430361090641103</c:v>
                </c:pt>
                <c:pt idx="19">
                  <c:v>4.46428571428571</c:v>
                </c:pt>
                <c:pt idx="20">
                  <c:v>2.2471910112359499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0-D351-4183-9891-75D167625B4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179876016"/>
        <c:axId val="1179878816"/>
      </c:barChart>
      <c:catAx>
        <c:axId val="11798760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79878816"/>
        <c:crosses val="autoZero"/>
        <c:auto val="1"/>
        <c:lblAlgn val="ctr"/>
        <c:lblOffset val="100"/>
        <c:noMultiLvlLbl val="0"/>
      </c:catAx>
      <c:valAx>
        <c:axId val="11798788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798760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B2940D-9C20-4E88-B6DA-1821C75C2316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D53BEA-5E52-4666-A8DD-6A0310A59CA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4526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8341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67752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4835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42130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59138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16057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85920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76225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94917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117321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661491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8284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653964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6195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068492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609060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1001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D53BEA-5E52-4666-A8DD-6A0310A59CA8}" type="slidenum">
              <a:rPr lang="en-IN" smtClean="0"/>
              <a:t>19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1016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3902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3677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5560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6988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033850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74134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80003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0480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41693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113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7C1D5-1EA4-4B24-B76E-91AF016E39DE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19014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37C1D5-1EA4-4B24-B76E-91AF016E39DE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8A1358-203B-4575-A845-91135193C9D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34127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06880" y="1654629"/>
            <a:ext cx="9144000" cy="2412273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Handwritten Form Recognition using YOLO and </a:t>
            </a:r>
            <a:r>
              <a:rPr lang="en-US" b="1" dirty="0" err="1">
                <a:solidFill>
                  <a:schemeClr val="bg1"/>
                </a:solidFill>
              </a:rPr>
              <a:t>TrOCR</a:t>
            </a:r>
            <a:r>
              <a:rPr lang="en-US" b="1" dirty="0">
                <a:solidFill>
                  <a:schemeClr val="bg1"/>
                </a:solidFill>
              </a:rPr>
              <a:t> with Layout Aware Error Correction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911634"/>
            <a:ext cx="9144000" cy="1251858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53766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6544" y="954800"/>
            <a:ext cx="11139055" cy="5222163"/>
          </a:xfrm>
        </p:spPr>
        <p:txBody>
          <a:bodyPr>
            <a:normAutofit/>
          </a:bodyPr>
          <a:lstStyle/>
          <a:p>
            <a:r>
              <a:rPr lang="en-IN" sz="1800" dirty="0"/>
              <a:t>Problem </a:t>
            </a:r>
            <a:r>
              <a:rPr lang="en-IN" sz="1800" dirty="0" smtClean="0"/>
              <a:t>Statement</a:t>
            </a:r>
            <a:endParaRPr lang="en-IN" sz="1400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1047359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 smtClean="0"/>
              <a:t>Team Introduction</a:t>
            </a:r>
            <a:endParaRPr lang="en-IN" sz="3000" b="1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91491" y="1745673"/>
            <a:ext cx="1939636" cy="2466109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9" name="Rounded Rectangle 18"/>
          <p:cNvSpPr/>
          <p:nvPr/>
        </p:nvSpPr>
        <p:spPr>
          <a:xfrm>
            <a:off x="3717637" y="1745672"/>
            <a:ext cx="1939636" cy="2466109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Rounded Rectangle 19"/>
          <p:cNvSpPr/>
          <p:nvPr/>
        </p:nvSpPr>
        <p:spPr>
          <a:xfrm>
            <a:off x="6309360" y="1745672"/>
            <a:ext cx="1939636" cy="2466109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Rounded Rectangle 20"/>
          <p:cNvSpPr/>
          <p:nvPr/>
        </p:nvSpPr>
        <p:spPr>
          <a:xfrm>
            <a:off x="8732982" y="1745672"/>
            <a:ext cx="1939636" cy="2466109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TextBox 21"/>
          <p:cNvSpPr txBox="1"/>
          <p:nvPr/>
        </p:nvSpPr>
        <p:spPr>
          <a:xfrm>
            <a:off x="8993908" y="3373726"/>
            <a:ext cx="2295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 smtClean="0">
                <a:solidFill>
                  <a:schemeClr val="bg1"/>
                </a:solidFill>
              </a:rPr>
              <a:t>Muthukumar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8563" y="3666345"/>
            <a:ext cx="22952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solidFill>
                  <a:schemeClr val="bg1"/>
                </a:solidFill>
              </a:rPr>
              <a:t>Scientist, IGCAR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4181" y="3353614"/>
            <a:ext cx="2295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 err="1" smtClean="0">
                <a:solidFill>
                  <a:schemeClr val="bg1"/>
                </a:solidFill>
              </a:rPr>
              <a:t>Iniya</a:t>
            </a:r>
            <a:endParaRPr lang="en-IN" dirty="0" smtClean="0">
              <a:solidFill>
                <a:schemeClr val="bg1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437744" y="3666345"/>
            <a:ext cx="22952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solidFill>
                  <a:schemeClr val="bg1"/>
                </a:solidFill>
              </a:rPr>
              <a:t>Data Scientist, </a:t>
            </a:r>
            <a:r>
              <a:rPr lang="en-IN" sz="1400" dirty="0" smtClean="0">
                <a:solidFill>
                  <a:srgbClr val="FF0000"/>
                </a:solidFill>
              </a:rPr>
              <a:t>IGCAR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44340" y="3376118"/>
            <a:ext cx="2295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 err="1" smtClean="0">
                <a:solidFill>
                  <a:schemeClr val="bg1"/>
                </a:solidFill>
              </a:rPr>
              <a:t>Anand</a:t>
            </a:r>
            <a:endParaRPr lang="en-IN" dirty="0" smtClean="0">
              <a:solidFill>
                <a:schemeClr val="bg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226560" y="3657110"/>
            <a:ext cx="22952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solidFill>
                  <a:schemeClr val="bg1"/>
                </a:solidFill>
              </a:rPr>
              <a:t>Consultant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59113" y="3376118"/>
            <a:ext cx="2295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 err="1" smtClean="0">
                <a:solidFill>
                  <a:schemeClr val="bg1"/>
                </a:solidFill>
              </a:rPr>
              <a:t>Satishkumar</a:t>
            </a:r>
            <a:endParaRPr lang="en-IN" dirty="0" smtClean="0">
              <a:solidFill>
                <a:schemeClr val="bg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476893" y="3666345"/>
            <a:ext cx="22952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solidFill>
                  <a:schemeClr val="bg1"/>
                </a:solidFill>
              </a:rPr>
              <a:t>Scientist, IGCAR</a:t>
            </a:r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4635" y="1890537"/>
            <a:ext cx="1440000" cy="1440000"/>
          </a:xfrm>
          <a:prstGeom prst="rect">
            <a:avLst/>
          </a:prstGeom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9138" y="1885334"/>
            <a:ext cx="1440000" cy="1440000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9178" y="1880436"/>
            <a:ext cx="1440000" cy="1440000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2800" y="1890521"/>
            <a:ext cx="14400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7464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 smtClean="0"/>
              <a:t>Problem Statement</a:t>
            </a:r>
            <a:endParaRPr lang="en-IN" sz="3000" b="1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60" b="24714"/>
          <a:stretch/>
        </p:blipFill>
        <p:spPr>
          <a:xfrm>
            <a:off x="1015160" y="1259046"/>
            <a:ext cx="4488601" cy="452863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4"/>
          <a:srcRect t="282"/>
          <a:stretch/>
        </p:blipFill>
        <p:spPr>
          <a:xfrm>
            <a:off x="7177377" y="1259045"/>
            <a:ext cx="3154305" cy="452323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Right Arrow 14"/>
          <p:cNvSpPr/>
          <p:nvPr/>
        </p:nvSpPr>
        <p:spPr>
          <a:xfrm>
            <a:off x="5800436" y="3186545"/>
            <a:ext cx="1025237" cy="683266"/>
          </a:xfrm>
          <a:prstGeom prst="rightArrow">
            <a:avLst/>
          </a:prstGeom>
          <a:solidFill>
            <a:srgbClr val="2C46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51" name="Group 50"/>
          <p:cNvGrpSpPr/>
          <p:nvPr/>
        </p:nvGrpSpPr>
        <p:grpSpPr>
          <a:xfrm>
            <a:off x="1939636" y="784082"/>
            <a:ext cx="7232073" cy="984283"/>
            <a:chOff x="1939636" y="784082"/>
            <a:chExt cx="7232073" cy="984283"/>
          </a:xfrm>
        </p:grpSpPr>
        <p:cxnSp>
          <p:nvCxnSpPr>
            <p:cNvPr id="23" name="Elbow Connector 22"/>
            <p:cNvCxnSpPr/>
            <p:nvPr/>
          </p:nvCxnSpPr>
          <p:spPr>
            <a:xfrm flipV="1">
              <a:off x="1939636" y="784082"/>
              <a:ext cx="7232073" cy="984283"/>
            </a:xfrm>
            <a:prstGeom prst="bentConnector3">
              <a:avLst>
                <a:gd name="adj1" fmla="val -64"/>
              </a:avLst>
            </a:prstGeom>
            <a:ln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>
              <a:off x="9171709" y="784082"/>
              <a:ext cx="0" cy="7491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Group 51"/>
          <p:cNvGrpSpPr/>
          <p:nvPr/>
        </p:nvGrpSpPr>
        <p:grpSpPr>
          <a:xfrm>
            <a:off x="3259460" y="1431636"/>
            <a:ext cx="5635158" cy="336729"/>
            <a:chOff x="3259460" y="1431636"/>
            <a:chExt cx="5635158" cy="336729"/>
          </a:xfrm>
        </p:grpSpPr>
        <p:cxnSp>
          <p:nvCxnSpPr>
            <p:cNvPr id="42" name="Elbow Connector 41"/>
            <p:cNvCxnSpPr/>
            <p:nvPr/>
          </p:nvCxnSpPr>
          <p:spPr>
            <a:xfrm flipV="1">
              <a:off x="3259460" y="1431636"/>
              <a:ext cx="5635158" cy="336729"/>
            </a:xfrm>
            <a:prstGeom prst="bentConnector3">
              <a:avLst>
                <a:gd name="adj1" fmla="val 9"/>
              </a:avLst>
            </a:prstGeom>
            <a:ln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/>
            <p:cNvCxnSpPr/>
            <p:nvPr/>
          </p:nvCxnSpPr>
          <p:spPr>
            <a:xfrm>
              <a:off x="8894618" y="1431636"/>
              <a:ext cx="0" cy="3367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Rectangle 47"/>
          <p:cNvSpPr/>
          <p:nvPr/>
        </p:nvSpPr>
        <p:spPr>
          <a:xfrm>
            <a:off x="2613891" y="1768365"/>
            <a:ext cx="1219200" cy="208217"/>
          </a:xfrm>
          <a:prstGeom prst="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50" name="Straight Arrow Connector 49"/>
          <p:cNvCxnSpPr/>
          <p:nvPr/>
        </p:nvCxnSpPr>
        <p:spPr>
          <a:xfrm>
            <a:off x="3971636" y="1872473"/>
            <a:ext cx="3814619" cy="3442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9313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4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 smtClean="0"/>
              <a:t>Related Work</a:t>
            </a:r>
            <a:endParaRPr lang="en-IN" sz="3000" b="1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  <p:grpSp>
        <p:nvGrpSpPr>
          <p:cNvPr id="42" name="Group 41"/>
          <p:cNvGrpSpPr/>
          <p:nvPr/>
        </p:nvGrpSpPr>
        <p:grpSpPr>
          <a:xfrm>
            <a:off x="638527" y="1330085"/>
            <a:ext cx="3464595" cy="4545874"/>
            <a:chOff x="638527" y="1330085"/>
            <a:chExt cx="3464595" cy="4545874"/>
          </a:xfrm>
        </p:grpSpPr>
        <p:sp>
          <p:nvSpPr>
            <p:cNvPr id="11" name="Rectangle 10"/>
            <p:cNvSpPr/>
            <p:nvPr/>
          </p:nvSpPr>
          <p:spPr>
            <a:xfrm>
              <a:off x="638527" y="1330085"/>
              <a:ext cx="3464595" cy="4545874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19" name="Group 18"/>
            <p:cNvGrpSpPr/>
            <p:nvPr/>
          </p:nvGrpSpPr>
          <p:grpSpPr>
            <a:xfrm>
              <a:off x="756289" y="3161145"/>
              <a:ext cx="3206111" cy="606623"/>
              <a:chOff x="756289" y="3161145"/>
              <a:chExt cx="3206111" cy="606623"/>
            </a:xfrm>
          </p:grpSpPr>
          <p:sp>
            <p:nvSpPr>
              <p:cNvPr id="13" name="Pentagon 12"/>
              <p:cNvSpPr/>
              <p:nvPr/>
            </p:nvSpPr>
            <p:spPr>
              <a:xfrm>
                <a:off x="756289" y="3161145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12" name="Flowchart: Connector 11"/>
              <p:cNvSpPr/>
              <p:nvPr/>
            </p:nvSpPr>
            <p:spPr>
              <a:xfrm>
                <a:off x="831274" y="3253508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18" name="TextBox 17"/>
              <p:cNvSpPr txBox="1"/>
              <p:nvPr/>
            </p:nvSpPr>
            <p:spPr>
              <a:xfrm>
                <a:off x="756289" y="3182993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 smtClean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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20" name="Group 19"/>
            <p:cNvGrpSpPr/>
            <p:nvPr/>
          </p:nvGrpSpPr>
          <p:grpSpPr>
            <a:xfrm>
              <a:off x="756289" y="3864587"/>
              <a:ext cx="3206111" cy="606623"/>
              <a:chOff x="756289" y="3161145"/>
              <a:chExt cx="3206111" cy="606623"/>
            </a:xfrm>
          </p:grpSpPr>
          <p:sp>
            <p:nvSpPr>
              <p:cNvPr id="21" name="Pentagon 20"/>
              <p:cNvSpPr/>
              <p:nvPr/>
            </p:nvSpPr>
            <p:spPr>
              <a:xfrm>
                <a:off x="756289" y="3161145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22" name="Flowchart: Connector 21"/>
              <p:cNvSpPr/>
              <p:nvPr/>
            </p:nvSpPr>
            <p:spPr>
              <a:xfrm>
                <a:off x="831274" y="3253508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756289" y="3182993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 smtClean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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32" name="Group 31"/>
            <p:cNvGrpSpPr/>
            <p:nvPr/>
          </p:nvGrpSpPr>
          <p:grpSpPr>
            <a:xfrm>
              <a:off x="756288" y="4562969"/>
              <a:ext cx="3206111" cy="584775"/>
              <a:chOff x="756288" y="4562969"/>
              <a:chExt cx="3206111" cy="584775"/>
            </a:xfrm>
          </p:grpSpPr>
          <p:sp>
            <p:nvSpPr>
              <p:cNvPr id="25" name="Pentagon 24"/>
              <p:cNvSpPr/>
              <p:nvPr/>
            </p:nvSpPr>
            <p:spPr>
              <a:xfrm>
                <a:off x="756288" y="4569200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26" name="Flowchart: Connector 25"/>
              <p:cNvSpPr/>
              <p:nvPr/>
            </p:nvSpPr>
            <p:spPr>
              <a:xfrm>
                <a:off x="831273" y="4661563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27" name="TextBox 26"/>
              <p:cNvSpPr txBox="1"/>
              <p:nvPr/>
            </p:nvSpPr>
            <p:spPr>
              <a:xfrm>
                <a:off x="783934" y="4562969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 smtClean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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33" name="Group 32"/>
            <p:cNvGrpSpPr/>
            <p:nvPr/>
          </p:nvGrpSpPr>
          <p:grpSpPr>
            <a:xfrm>
              <a:off x="737169" y="5253796"/>
              <a:ext cx="3206111" cy="584775"/>
              <a:chOff x="756288" y="4562969"/>
              <a:chExt cx="3206111" cy="584775"/>
            </a:xfrm>
          </p:grpSpPr>
          <p:sp>
            <p:nvSpPr>
              <p:cNvPr id="34" name="Pentagon 33"/>
              <p:cNvSpPr/>
              <p:nvPr/>
            </p:nvSpPr>
            <p:spPr>
              <a:xfrm>
                <a:off x="756288" y="4569200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35" name="Flowchart: Connector 34"/>
              <p:cNvSpPr/>
              <p:nvPr/>
            </p:nvSpPr>
            <p:spPr>
              <a:xfrm>
                <a:off x="831273" y="4661563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36" name="TextBox 35"/>
              <p:cNvSpPr txBox="1"/>
              <p:nvPr/>
            </p:nvSpPr>
            <p:spPr>
              <a:xfrm>
                <a:off x="783934" y="4562969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 smtClean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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sp>
          <p:nvSpPr>
            <p:cNvPr id="37" name="TextBox 36"/>
            <p:cNvSpPr txBox="1"/>
            <p:nvPr/>
          </p:nvSpPr>
          <p:spPr>
            <a:xfrm>
              <a:off x="1229593" y="4570191"/>
              <a:ext cx="263219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 smtClean="0">
                  <a:solidFill>
                    <a:schemeClr val="bg1"/>
                  </a:solidFill>
                </a:rPr>
                <a:t>Not directly suitable for </a:t>
              </a:r>
            </a:p>
            <a:p>
              <a:pPr algn="just"/>
              <a:r>
                <a:rPr lang="en-IN" sz="1600" dirty="0" smtClean="0">
                  <a:solidFill>
                    <a:schemeClr val="bg1"/>
                  </a:solidFill>
                </a:rPr>
                <a:t>images with handwritten text</a:t>
              </a:r>
              <a:endParaRPr lang="en-IN" sz="1600" dirty="0">
                <a:solidFill>
                  <a:schemeClr val="bg1"/>
                </a:solidFill>
              </a:endParaRP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229593" y="5246012"/>
              <a:ext cx="232320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 smtClean="0">
                  <a:solidFill>
                    <a:schemeClr val="bg1"/>
                  </a:solidFill>
                </a:rPr>
                <a:t>Training requires labelled </a:t>
              </a:r>
            </a:p>
            <a:p>
              <a:r>
                <a:rPr lang="en-IN" sz="1600" dirty="0" smtClean="0">
                  <a:solidFill>
                    <a:schemeClr val="bg1"/>
                  </a:solidFill>
                </a:rPr>
                <a:t>key value pairs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209583" y="3160645"/>
              <a:ext cx="238667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 smtClean="0">
                  <a:solidFill>
                    <a:schemeClr val="bg1"/>
                  </a:solidFill>
                </a:rPr>
                <a:t>Understands semantic </a:t>
              </a:r>
            </a:p>
            <a:p>
              <a:r>
                <a:rPr lang="en-IN" sz="1600" dirty="0" smtClean="0">
                  <a:solidFill>
                    <a:schemeClr val="bg1"/>
                  </a:solidFill>
                </a:rPr>
                <a:t>structure of the document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459689" y="1330085"/>
              <a:ext cx="169661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2800" dirty="0" smtClean="0"/>
                <a:t>Layout LM</a:t>
              </a:r>
              <a:endParaRPr lang="en-IN" sz="2800" dirty="0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177484" y="3840946"/>
              <a:ext cx="238667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 smtClean="0">
                  <a:solidFill>
                    <a:schemeClr val="bg1"/>
                  </a:solidFill>
                </a:rPr>
                <a:t>Understands semantic </a:t>
              </a:r>
            </a:p>
            <a:p>
              <a:r>
                <a:rPr lang="en-IN" sz="1600" dirty="0" smtClean="0">
                  <a:solidFill>
                    <a:schemeClr val="bg1"/>
                  </a:solidFill>
                </a:rPr>
                <a:t>structure of the document</a:t>
              </a:r>
            </a:p>
          </p:txBody>
        </p:sp>
      </p:grpSp>
      <p:grpSp>
        <p:nvGrpSpPr>
          <p:cNvPr id="43" name="Group 42"/>
          <p:cNvGrpSpPr/>
          <p:nvPr/>
        </p:nvGrpSpPr>
        <p:grpSpPr>
          <a:xfrm>
            <a:off x="4248529" y="1320850"/>
            <a:ext cx="3464595" cy="4555109"/>
            <a:chOff x="638527" y="1320850"/>
            <a:chExt cx="3464595" cy="4555109"/>
          </a:xfrm>
        </p:grpSpPr>
        <p:sp>
          <p:nvSpPr>
            <p:cNvPr id="44" name="Rectangle 43"/>
            <p:cNvSpPr/>
            <p:nvPr/>
          </p:nvSpPr>
          <p:spPr>
            <a:xfrm>
              <a:off x="638527" y="1330085"/>
              <a:ext cx="3464595" cy="4545874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45" name="Group 44"/>
            <p:cNvGrpSpPr/>
            <p:nvPr/>
          </p:nvGrpSpPr>
          <p:grpSpPr>
            <a:xfrm>
              <a:off x="756289" y="3161145"/>
              <a:ext cx="3206111" cy="606623"/>
              <a:chOff x="756289" y="3161145"/>
              <a:chExt cx="3206111" cy="606623"/>
            </a:xfrm>
          </p:grpSpPr>
          <p:sp>
            <p:nvSpPr>
              <p:cNvPr id="63" name="Pentagon 62"/>
              <p:cNvSpPr/>
              <p:nvPr/>
            </p:nvSpPr>
            <p:spPr>
              <a:xfrm>
                <a:off x="756289" y="3161145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64" name="Flowchart: Connector 63"/>
              <p:cNvSpPr/>
              <p:nvPr/>
            </p:nvSpPr>
            <p:spPr>
              <a:xfrm>
                <a:off x="831274" y="3253508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65" name="TextBox 64"/>
              <p:cNvSpPr txBox="1"/>
              <p:nvPr/>
            </p:nvSpPr>
            <p:spPr>
              <a:xfrm>
                <a:off x="756289" y="3182993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 smtClean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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46" name="Group 45"/>
            <p:cNvGrpSpPr/>
            <p:nvPr/>
          </p:nvGrpSpPr>
          <p:grpSpPr>
            <a:xfrm>
              <a:off x="756289" y="3864587"/>
              <a:ext cx="3206111" cy="606623"/>
              <a:chOff x="756289" y="3161145"/>
              <a:chExt cx="3206111" cy="606623"/>
            </a:xfrm>
          </p:grpSpPr>
          <p:sp>
            <p:nvSpPr>
              <p:cNvPr id="60" name="Pentagon 59"/>
              <p:cNvSpPr/>
              <p:nvPr/>
            </p:nvSpPr>
            <p:spPr>
              <a:xfrm>
                <a:off x="756289" y="3161145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61" name="Flowchart: Connector 60"/>
              <p:cNvSpPr/>
              <p:nvPr/>
            </p:nvSpPr>
            <p:spPr>
              <a:xfrm>
                <a:off x="831274" y="3253508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62" name="TextBox 61"/>
              <p:cNvSpPr txBox="1"/>
              <p:nvPr/>
            </p:nvSpPr>
            <p:spPr>
              <a:xfrm>
                <a:off x="756289" y="3182993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 smtClean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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47" name="Group 46"/>
            <p:cNvGrpSpPr/>
            <p:nvPr/>
          </p:nvGrpSpPr>
          <p:grpSpPr>
            <a:xfrm>
              <a:off x="756288" y="4562969"/>
              <a:ext cx="3206111" cy="584775"/>
              <a:chOff x="756288" y="4562969"/>
              <a:chExt cx="3206111" cy="584775"/>
            </a:xfrm>
          </p:grpSpPr>
          <p:sp>
            <p:nvSpPr>
              <p:cNvPr id="57" name="Pentagon 56"/>
              <p:cNvSpPr/>
              <p:nvPr/>
            </p:nvSpPr>
            <p:spPr>
              <a:xfrm>
                <a:off x="756288" y="4569200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58" name="Flowchart: Connector 57"/>
              <p:cNvSpPr/>
              <p:nvPr/>
            </p:nvSpPr>
            <p:spPr>
              <a:xfrm>
                <a:off x="831273" y="4661563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59" name="TextBox 58"/>
              <p:cNvSpPr txBox="1"/>
              <p:nvPr/>
            </p:nvSpPr>
            <p:spPr>
              <a:xfrm>
                <a:off x="783934" y="4562969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 smtClean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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48" name="Group 47"/>
            <p:cNvGrpSpPr/>
            <p:nvPr/>
          </p:nvGrpSpPr>
          <p:grpSpPr>
            <a:xfrm>
              <a:off x="737169" y="5253796"/>
              <a:ext cx="3206111" cy="584775"/>
              <a:chOff x="756288" y="4562969"/>
              <a:chExt cx="3206111" cy="584775"/>
            </a:xfrm>
          </p:grpSpPr>
          <p:sp>
            <p:nvSpPr>
              <p:cNvPr id="54" name="Pentagon 53"/>
              <p:cNvSpPr/>
              <p:nvPr/>
            </p:nvSpPr>
            <p:spPr>
              <a:xfrm>
                <a:off x="756288" y="4569200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55" name="Flowchart: Connector 54"/>
              <p:cNvSpPr/>
              <p:nvPr/>
            </p:nvSpPr>
            <p:spPr>
              <a:xfrm>
                <a:off x="831273" y="4661563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56" name="TextBox 55"/>
              <p:cNvSpPr txBox="1"/>
              <p:nvPr/>
            </p:nvSpPr>
            <p:spPr>
              <a:xfrm>
                <a:off x="783934" y="4562969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 smtClean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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sp>
          <p:nvSpPr>
            <p:cNvPr id="49" name="TextBox 48"/>
            <p:cNvSpPr txBox="1"/>
            <p:nvPr/>
          </p:nvSpPr>
          <p:spPr>
            <a:xfrm>
              <a:off x="1229593" y="4570191"/>
              <a:ext cx="263219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 smtClean="0">
                  <a:solidFill>
                    <a:schemeClr val="bg1"/>
                  </a:solidFill>
                </a:rPr>
                <a:t>Not directly suitable for </a:t>
              </a:r>
            </a:p>
            <a:p>
              <a:pPr algn="just"/>
              <a:r>
                <a:rPr lang="en-IN" sz="1600" dirty="0" smtClean="0">
                  <a:solidFill>
                    <a:schemeClr val="bg1"/>
                  </a:solidFill>
                </a:rPr>
                <a:t>images with handwritten text</a:t>
              </a:r>
              <a:endParaRPr lang="en-IN" sz="1600" dirty="0">
                <a:solidFill>
                  <a:schemeClr val="bg1"/>
                </a:solidFill>
              </a:endParaRP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1229593" y="5246012"/>
              <a:ext cx="2431628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 smtClean="0">
                  <a:solidFill>
                    <a:schemeClr val="bg1"/>
                  </a:solidFill>
                </a:rPr>
                <a:t>Training requires Compute </a:t>
              </a:r>
            </a:p>
            <a:p>
              <a:r>
                <a:rPr lang="en-IN" sz="1600" dirty="0" smtClean="0">
                  <a:solidFill>
                    <a:schemeClr val="bg1"/>
                  </a:solidFill>
                </a:rPr>
                <a:t>heavy hardware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1209583" y="3160645"/>
              <a:ext cx="238667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 smtClean="0">
                  <a:solidFill>
                    <a:schemeClr val="bg1"/>
                  </a:solidFill>
                </a:rPr>
                <a:t>Understands semantic </a:t>
              </a:r>
            </a:p>
            <a:p>
              <a:r>
                <a:rPr lang="en-IN" sz="1600" dirty="0" smtClean="0">
                  <a:solidFill>
                    <a:schemeClr val="bg1"/>
                  </a:solidFill>
                </a:rPr>
                <a:t>structure of the document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1314282" y="1320850"/>
              <a:ext cx="212109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2800" dirty="0" smtClean="0"/>
                <a:t>Donut Model</a:t>
              </a:r>
              <a:endParaRPr lang="en-IN" sz="2800" dirty="0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1177484" y="3840946"/>
              <a:ext cx="238667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 smtClean="0">
                  <a:solidFill>
                    <a:schemeClr val="bg1"/>
                  </a:solidFill>
                </a:rPr>
                <a:t>Understands semantic </a:t>
              </a:r>
            </a:p>
            <a:p>
              <a:r>
                <a:rPr lang="en-IN" sz="1600" dirty="0" smtClean="0">
                  <a:solidFill>
                    <a:schemeClr val="bg1"/>
                  </a:solidFill>
                </a:rPr>
                <a:t>structure of the document</a:t>
              </a:r>
            </a:p>
          </p:txBody>
        </p:sp>
      </p:grpSp>
      <p:grpSp>
        <p:nvGrpSpPr>
          <p:cNvPr id="66" name="Group 65"/>
          <p:cNvGrpSpPr/>
          <p:nvPr/>
        </p:nvGrpSpPr>
        <p:grpSpPr>
          <a:xfrm>
            <a:off x="8036532" y="1296745"/>
            <a:ext cx="3464595" cy="4574133"/>
            <a:chOff x="638527" y="1301826"/>
            <a:chExt cx="3464595" cy="4574133"/>
          </a:xfrm>
        </p:grpSpPr>
        <p:sp>
          <p:nvSpPr>
            <p:cNvPr id="67" name="Rectangle 66"/>
            <p:cNvSpPr/>
            <p:nvPr/>
          </p:nvSpPr>
          <p:spPr>
            <a:xfrm>
              <a:off x="638527" y="1330085"/>
              <a:ext cx="3464595" cy="4545874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68" name="Group 67"/>
            <p:cNvGrpSpPr/>
            <p:nvPr/>
          </p:nvGrpSpPr>
          <p:grpSpPr>
            <a:xfrm>
              <a:off x="756289" y="3161145"/>
              <a:ext cx="3206111" cy="606623"/>
              <a:chOff x="756289" y="3161145"/>
              <a:chExt cx="3206111" cy="606623"/>
            </a:xfrm>
          </p:grpSpPr>
          <p:sp>
            <p:nvSpPr>
              <p:cNvPr id="86" name="Pentagon 85"/>
              <p:cNvSpPr/>
              <p:nvPr/>
            </p:nvSpPr>
            <p:spPr>
              <a:xfrm>
                <a:off x="756289" y="3161145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7" name="Flowchart: Connector 86"/>
              <p:cNvSpPr/>
              <p:nvPr/>
            </p:nvSpPr>
            <p:spPr>
              <a:xfrm>
                <a:off x="831274" y="3253508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8" name="TextBox 87"/>
              <p:cNvSpPr txBox="1"/>
              <p:nvPr/>
            </p:nvSpPr>
            <p:spPr>
              <a:xfrm>
                <a:off x="756289" y="3182993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 smtClean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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69" name="Group 68"/>
            <p:cNvGrpSpPr/>
            <p:nvPr/>
          </p:nvGrpSpPr>
          <p:grpSpPr>
            <a:xfrm>
              <a:off x="756289" y="3864587"/>
              <a:ext cx="3206111" cy="606623"/>
              <a:chOff x="756289" y="3161145"/>
              <a:chExt cx="3206111" cy="606623"/>
            </a:xfrm>
          </p:grpSpPr>
          <p:sp>
            <p:nvSpPr>
              <p:cNvPr id="83" name="Pentagon 82"/>
              <p:cNvSpPr/>
              <p:nvPr/>
            </p:nvSpPr>
            <p:spPr>
              <a:xfrm>
                <a:off x="756289" y="3161145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4" name="Flowchart: Connector 83"/>
              <p:cNvSpPr/>
              <p:nvPr/>
            </p:nvSpPr>
            <p:spPr>
              <a:xfrm>
                <a:off x="831274" y="3253508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5" name="TextBox 84"/>
              <p:cNvSpPr txBox="1"/>
              <p:nvPr/>
            </p:nvSpPr>
            <p:spPr>
              <a:xfrm>
                <a:off x="756289" y="3182993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 smtClean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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70" name="Group 69"/>
            <p:cNvGrpSpPr/>
            <p:nvPr/>
          </p:nvGrpSpPr>
          <p:grpSpPr>
            <a:xfrm>
              <a:off x="756288" y="4562969"/>
              <a:ext cx="3206111" cy="584775"/>
              <a:chOff x="756288" y="4562969"/>
              <a:chExt cx="3206111" cy="584775"/>
            </a:xfrm>
          </p:grpSpPr>
          <p:sp>
            <p:nvSpPr>
              <p:cNvPr id="80" name="Pentagon 79"/>
              <p:cNvSpPr/>
              <p:nvPr/>
            </p:nvSpPr>
            <p:spPr>
              <a:xfrm>
                <a:off x="756288" y="4569200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1" name="Flowchart: Connector 80"/>
              <p:cNvSpPr/>
              <p:nvPr/>
            </p:nvSpPr>
            <p:spPr>
              <a:xfrm>
                <a:off x="831273" y="4661563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2" name="TextBox 81"/>
              <p:cNvSpPr txBox="1"/>
              <p:nvPr/>
            </p:nvSpPr>
            <p:spPr>
              <a:xfrm>
                <a:off x="783934" y="4562969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 smtClean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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grpSp>
          <p:nvGrpSpPr>
            <p:cNvPr id="71" name="Group 70"/>
            <p:cNvGrpSpPr/>
            <p:nvPr/>
          </p:nvGrpSpPr>
          <p:grpSpPr>
            <a:xfrm>
              <a:off x="737169" y="5253796"/>
              <a:ext cx="3206111" cy="584775"/>
              <a:chOff x="756288" y="4562969"/>
              <a:chExt cx="3206111" cy="584775"/>
            </a:xfrm>
          </p:grpSpPr>
          <p:sp>
            <p:nvSpPr>
              <p:cNvPr id="77" name="Pentagon 76"/>
              <p:cNvSpPr/>
              <p:nvPr/>
            </p:nvSpPr>
            <p:spPr>
              <a:xfrm>
                <a:off x="756288" y="4569200"/>
                <a:ext cx="3206111" cy="563418"/>
              </a:xfrm>
              <a:prstGeom prst="homePlate">
                <a:avLst/>
              </a:prstGeom>
              <a:solidFill>
                <a:srgbClr val="2C466B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8" name="Flowchart: Connector 77"/>
              <p:cNvSpPr/>
              <p:nvPr/>
            </p:nvSpPr>
            <p:spPr>
              <a:xfrm>
                <a:off x="831273" y="4661563"/>
                <a:ext cx="350981" cy="378691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9" name="TextBox 78"/>
              <p:cNvSpPr txBox="1"/>
              <p:nvPr/>
            </p:nvSpPr>
            <p:spPr>
              <a:xfrm>
                <a:off x="783934" y="4562969"/>
                <a:ext cx="155170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3200" dirty="0" smtClean="0">
                    <a:solidFill>
                      <a:srgbClr val="2C466B"/>
                    </a:solidFill>
                    <a:sym typeface="Wingdings" panose="05000000000000000000" pitchFamily="2" charset="2"/>
                  </a:rPr>
                  <a:t></a:t>
                </a:r>
                <a:endParaRPr lang="en-IN" sz="3200" dirty="0">
                  <a:solidFill>
                    <a:srgbClr val="2C466B"/>
                  </a:solidFill>
                </a:endParaRPr>
              </a:p>
            </p:txBody>
          </p:sp>
        </p:grpSp>
        <p:sp>
          <p:nvSpPr>
            <p:cNvPr id="72" name="TextBox 71"/>
            <p:cNvSpPr txBox="1"/>
            <p:nvPr/>
          </p:nvSpPr>
          <p:spPr>
            <a:xfrm>
              <a:off x="1229593" y="4570191"/>
              <a:ext cx="263219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 smtClean="0">
                  <a:solidFill>
                    <a:schemeClr val="bg1"/>
                  </a:solidFill>
                </a:rPr>
                <a:t>Not directly suitable for </a:t>
              </a:r>
            </a:p>
            <a:p>
              <a:pPr algn="just"/>
              <a:r>
                <a:rPr lang="en-IN" sz="1600" dirty="0" smtClean="0">
                  <a:solidFill>
                    <a:schemeClr val="bg1"/>
                  </a:solidFill>
                </a:rPr>
                <a:t>images with handwritten text</a:t>
              </a:r>
              <a:endParaRPr lang="en-IN" sz="1600" dirty="0">
                <a:solidFill>
                  <a:schemeClr val="bg1"/>
                </a:solidFill>
              </a:endParaRP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1229593" y="5246012"/>
              <a:ext cx="232320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 smtClean="0">
                  <a:solidFill>
                    <a:schemeClr val="bg1"/>
                  </a:solidFill>
                </a:rPr>
                <a:t>Training requires labelled </a:t>
              </a:r>
            </a:p>
            <a:p>
              <a:r>
                <a:rPr lang="en-IN" sz="1600" dirty="0" smtClean="0">
                  <a:solidFill>
                    <a:schemeClr val="bg1"/>
                  </a:solidFill>
                </a:rPr>
                <a:t>key value pairs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1209583" y="3160645"/>
              <a:ext cx="238667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 smtClean="0">
                  <a:solidFill>
                    <a:schemeClr val="bg1"/>
                  </a:solidFill>
                </a:rPr>
                <a:t>Understands semantic </a:t>
              </a:r>
            </a:p>
            <a:p>
              <a:r>
                <a:rPr lang="en-IN" sz="1600" dirty="0" smtClean="0">
                  <a:solidFill>
                    <a:schemeClr val="bg1"/>
                  </a:solidFill>
                </a:rPr>
                <a:t>structure of the document</a:t>
              </a: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1083130" y="1301826"/>
              <a:ext cx="257538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2800" dirty="0" smtClean="0"/>
                <a:t>Detection + OCR</a:t>
              </a:r>
              <a:endParaRPr lang="en-IN" sz="2800" dirty="0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1177484" y="3840946"/>
              <a:ext cx="238667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600" dirty="0" smtClean="0">
                  <a:solidFill>
                    <a:schemeClr val="bg1"/>
                  </a:solidFill>
                </a:rPr>
                <a:t>Understands semantic </a:t>
              </a:r>
            </a:p>
            <a:p>
              <a:r>
                <a:rPr lang="en-IN" sz="1600" dirty="0" smtClean="0">
                  <a:solidFill>
                    <a:schemeClr val="bg1"/>
                  </a:solidFill>
                </a:rPr>
                <a:t>structure of the document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884675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 smtClean="0"/>
              <a:t>Dataset Overview</a:t>
            </a:r>
            <a:endParaRPr lang="en-IN" sz="3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6544" y="954800"/>
            <a:ext cx="11139055" cy="5222163"/>
          </a:xfrm>
        </p:spPr>
        <p:txBody>
          <a:bodyPr>
            <a:normAutofit/>
          </a:bodyPr>
          <a:lstStyle/>
          <a:p>
            <a:r>
              <a:rPr lang="en-IN" sz="1800" dirty="0"/>
              <a:t>Problem </a:t>
            </a:r>
            <a:r>
              <a:rPr lang="en-IN" sz="1800" dirty="0" smtClean="0"/>
              <a:t>Statement</a:t>
            </a:r>
            <a:endParaRPr lang="en-IN" sz="1400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0834650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 smtClean="0"/>
              <a:t>Model Architecture</a:t>
            </a:r>
            <a:endParaRPr lang="en-IN" sz="3000" b="1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  <p:sp>
        <p:nvSpPr>
          <p:cNvPr id="15" name="Rectangle: Rounded Corners 955755312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6DAEFD3C-0155-2402-A87F-BC07F5FFF7CE}"/>
              </a:ext>
            </a:extLst>
          </p:cNvPr>
          <p:cNvSpPr/>
          <p:nvPr/>
        </p:nvSpPr>
        <p:spPr>
          <a:xfrm>
            <a:off x="1782382" y="2722198"/>
            <a:ext cx="1220580" cy="1027473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 smtClean="0">
                <a:solidFill>
                  <a:srgbClr val="FFFFFF"/>
                </a:solidFill>
                <a:effectLst/>
                <a:ea typeface="Arial" panose="020B0604020202020204" pitchFamily="34" charset="0"/>
                <a:cs typeface="Times New Roman" panose="02020603050405020304" pitchFamily="18" charset="0"/>
              </a:rPr>
              <a:t>Detection Model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17" name="Rectangle: Rounded Corners 337800328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47FFFF1B-FB6A-6132-DA82-C5F4ADFE6EA1}"/>
              </a:ext>
            </a:extLst>
          </p:cNvPr>
          <p:cNvSpPr/>
          <p:nvPr/>
        </p:nvSpPr>
        <p:spPr>
          <a:xfrm>
            <a:off x="3877799" y="2691940"/>
            <a:ext cx="1220582" cy="1027471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</a:pPr>
            <a:r>
              <a:rPr lang="en-US" sz="1600" dirty="0">
                <a:solidFill>
                  <a:srgbClr val="FFFFFF"/>
                </a:solidFill>
                <a:ea typeface="Arial" panose="020B0604020202020204" pitchFamily="34" charset="0"/>
                <a:cs typeface="Times New Roman" panose="02020603050405020304" pitchFamily="18" charset="0"/>
              </a:rPr>
              <a:t>Field Matching</a:t>
            </a:r>
            <a:endParaRPr lang="en-IN" sz="1600" dirty="0">
              <a:solidFill>
                <a:srgbClr val="FFFFFF"/>
              </a:solidFill>
              <a:ea typeface="Arial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8" name="Rectangle: Rounded Corners 1452009881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95CFF6B9-9BD3-9470-8619-F307E94B5EBF}"/>
              </a:ext>
            </a:extLst>
          </p:cNvPr>
          <p:cNvSpPr/>
          <p:nvPr/>
        </p:nvSpPr>
        <p:spPr>
          <a:xfrm>
            <a:off x="5994268" y="2664899"/>
            <a:ext cx="1252822" cy="1027468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</a:pPr>
            <a:r>
              <a:rPr lang="en-US" sz="1600" dirty="0">
                <a:solidFill>
                  <a:srgbClr val="FFFFFF"/>
                </a:solidFill>
                <a:ea typeface="Arial" panose="020B0604020202020204" pitchFamily="34" charset="0"/>
                <a:cs typeface="Times New Roman" panose="02020603050405020304" pitchFamily="18" charset="0"/>
              </a:rPr>
              <a:t>OCR Model</a:t>
            </a:r>
            <a:endParaRPr lang="en-IN" sz="1600" dirty="0">
              <a:solidFill>
                <a:srgbClr val="FFFFFF"/>
              </a:solidFill>
              <a:ea typeface="Arial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9" name="Rectangle: Rounded Corners 643149211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B19715AB-4AA8-8F4A-1BA0-23611D4095E1}"/>
              </a:ext>
            </a:extLst>
          </p:cNvPr>
          <p:cNvSpPr/>
          <p:nvPr/>
        </p:nvSpPr>
        <p:spPr>
          <a:xfrm>
            <a:off x="8136595" y="2634972"/>
            <a:ext cx="1252822" cy="1012013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</a:pPr>
            <a:r>
              <a:rPr lang="en-US" sz="1600" dirty="0">
                <a:solidFill>
                  <a:srgbClr val="FFFFFF"/>
                </a:solidFill>
                <a:ea typeface="Arial" panose="020B0604020202020204" pitchFamily="34" charset="0"/>
                <a:cs typeface="Times New Roman" panose="02020603050405020304" pitchFamily="18" charset="0"/>
              </a:rPr>
              <a:t>Post Processing</a:t>
            </a:r>
            <a:endParaRPr lang="en-IN" sz="1600" dirty="0">
              <a:solidFill>
                <a:srgbClr val="FFFFFF"/>
              </a:solidFill>
              <a:ea typeface="Arial" panose="020B06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FAC668D8-5355-96EF-6C76-040115E13ABA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992996" y="3235934"/>
            <a:ext cx="789386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B779C335-4635-9AC3-C1D9-80B4E75AF8F3}"/>
              </a:ext>
            </a:extLst>
          </p:cNvPr>
          <p:cNvCxnSpPr>
            <a:cxnSpLocks/>
          </p:cNvCxnSpPr>
          <p:nvPr/>
        </p:nvCxnSpPr>
        <p:spPr>
          <a:xfrm flipH="1" flipV="1">
            <a:off x="4488089" y="3701601"/>
            <a:ext cx="1" cy="5763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13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C9838C68-051B-AF68-C866-16F0D59F4032}"/>
              </a:ext>
            </a:extLst>
          </p:cNvPr>
          <p:cNvSpPr txBox="1"/>
          <p:nvPr/>
        </p:nvSpPr>
        <p:spPr>
          <a:xfrm>
            <a:off x="3841418" y="4202387"/>
            <a:ext cx="1250736" cy="67856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Reference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Coordinates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55DC1B61-9240-CB09-EE55-5BD0B0B06BAD}"/>
              </a:ext>
            </a:extLst>
          </p:cNvPr>
          <p:cNvCxnSpPr>
            <a:cxnSpLocks/>
          </p:cNvCxnSpPr>
          <p:nvPr/>
        </p:nvCxnSpPr>
        <p:spPr>
          <a:xfrm>
            <a:off x="9389417" y="3140978"/>
            <a:ext cx="6344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E1513A41-752C-419A-7662-5071D3FE38C3}"/>
              </a:ext>
            </a:extLst>
          </p:cNvPr>
          <p:cNvCxnSpPr>
            <a:cxnSpLocks/>
          </p:cNvCxnSpPr>
          <p:nvPr/>
        </p:nvCxnSpPr>
        <p:spPr>
          <a:xfrm>
            <a:off x="2989013" y="3205676"/>
            <a:ext cx="9027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2E8D2C6C-E662-85B3-B077-6AD7F17FE6DC}"/>
              </a:ext>
            </a:extLst>
          </p:cNvPr>
          <p:cNvCxnSpPr>
            <a:cxnSpLocks/>
          </p:cNvCxnSpPr>
          <p:nvPr/>
        </p:nvCxnSpPr>
        <p:spPr>
          <a:xfrm>
            <a:off x="3440381" y="1978628"/>
            <a:ext cx="0" cy="1227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6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25C0153D-E433-759E-52D5-C249B4D114BA}"/>
              </a:ext>
            </a:extLst>
          </p:cNvPr>
          <p:cNvSpPr txBox="1"/>
          <p:nvPr/>
        </p:nvSpPr>
        <p:spPr>
          <a:xfrm>
            <a:off x="2798045" y="1126935"/>
            <a:ext cx="1407736" cy="60591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Bounding Box 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Coordinates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27" name="TextBox 27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E8520EFC-0FF4-8884-4695-9A04F2120B07}"/>
              </a:ext>
            </a:extLst>
          </p:cNvPr>
          <p:cNvSpPr txBox="1"/>
          <p:nvPr/>
        </p:nvSpPr>
        <p:spPr>
          <a:xfrm>
            <a:off x="5003206" y="1125333"/>
            <a:ext cx="1250736" cy="64438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Fields +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Coordinates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28" name="TextBox 28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25C9F8EB-9741-4C4B-A978-B63D06ADCA24}"/>
              </a:ext>
            </a:extLst>
          </p:cNvPr>
          <p:cNvSpPr txBox="1"/>
          <p:nvPr/>
        </p:nvSpPr>
        <p:spPr>
          <a:xfrm>
            <a:off x="7253437" y="1129788"/>
            <a:ext cx="896390" cy="62494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Fields +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Text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B698201A-64DE-3299-5C9A-7C1926A7FAD2}"/>
              </a:ext>
            </a:extLst>
          </p:cNvPr>
          <p:cNvCxnSpPr>
            <a:cxnSpLocks/>
          </p:cNvCxnSpPr>
          <p:nvPr/>
        </p:nvCxnSpPr>
        <p:spPr>
          <a:xfrm>
            <a:off x="5104760" y="3205674"/>
            <a:ext cx="9027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E4197C54-B347-679C-40EB-472BA244AC8A}"/>
              </a:ext>
            </a:extLst>
          </p:cNvPr>
          <p:cNvCxnSpPr>
            <a:cxnSpLocks/>
          </p:cNvCxnSpPr>
          <p:nvPr/>
        </p:nvCxnSpPr>
        <p:spPr>
          <a:xfrm>
            <a:off x="5556128" y="1978626"/>
            <a:ext cx="0" cy="1227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CD58BD1C-B577-4843-C1E4-69AB2EA79106}"/>
              </a:ext>
            </a:extLst>
          </p:cNvPr>
          <p:cNvSpPr/>
          <p:nvPr/>
        </p:nvSpPr>
        <p:spPr>
          <a:xfrm>
            <a:off x="5504872" y="1876516"/>
            <a:ext cx="123065" cy="13834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N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59115D69-AF70-47B5-FCE0-655CFF435418}"/>
              </a:ext>
            </a:extLst>
          </p:cNvPr>
          <p:cNvCxnSpPr>
            <a:cxnSpLocks/>
          </p:cNvCxnSpPr>
          <p:nvPr/>
        </p:nvCxnSpPr>
        <p:spPr>
          <a:xfrm>
            <a:off x="7247090" y="3178631"/>
            <a:ext cx="9027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72D33966-1DE9-9893-CE37-C889084D1EE9}"/>
              </a:ext>
            </a:extLst>
          </p:cNvPr>
          <p:cNvCxnSpPr>
            <a:cxnSpLocks/>
          </p:cNvCxnSpPr>
          <p:nvPr/>
        </p:nvCxnSpPr>
        <p:spPr>
          <a:xfrm>
            <a:off x="7698458" y="1951583"/>
            <a:ext cx="0" cy="1227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49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2A88F6FB-B647-6B0E-45DC-FB2C0A702D35}"/>
              </a:ext>
            </a:extLst>
          </p:cNvPr>
          <p:cNvSpPr txBox="1"/>
          <p:nvPr/>
        </p:nvSpPr>
        <p:spPr>
          <a:xfrm>
            <a:off x="10025806" y="2790862"/>
            <a:ext cx="1152501" cy="62387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Form Field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6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Text</a:t>
            </a:r>
            <a:endParaRPr lang="en-IN" sz="1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CD58BD1C-B577-4843-C1E4-69AB2EA79106}"/>
              </a:ext>
            </a:extLst>
          </p:cNvPr>
          <p:cNvSpPr/>
          <p:nvPr/>
        </p:nvSpPr>
        <p:spPr>
          <a:xfrm>
            <a:off x="3378848" y="1847376"/>
            <a:ext cx="123065" cy="13834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N"/>
          </a:p>
        </p:txBody>
      </p:sp>
      <p:sp>
        <p:nvSpPr>
          <p:cNvPr id="45" name="Oval 44">
            <a:extLst>
              <a:ext uri="{FF2B5EF4-FFF2-40B4-BE49-F238E27FC236}">
                <a16:creationId xmlns:lc="http://schemas.openxmlformats.org/drawingml/2006/lockedCanvas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6sdtfl="http://schemas.microsoft.com/office/word/2024/wordml/sdtformatlock" xmlns:w16sdtdh="http://schemas.microsoft.com/office/word/2020/wordml/sdtdatahash" xmlns:w16du="http://schemas.microsoft.com/office/word/2023/wordml/word16du" xmlns:w16="http://schemas.microsoft.com/office/word/2018/wordml" xmlns:w16cid="http://schemas.microsoft.com/office/word/2016/wordml/cid" xmlns:w16cex="http://schemas.microsoft.com/office/word/2018/wordml/cex" xmlns:w15="http://schemas.microsoft.com/office/word/2012/wordml" xmlns:w14="http://schemas.microsoft.com/office/word/2010/wordml" xmlns:w="http://schemas.openxmlformats.org/wordprocessingml/2006/main" xmlns:w10="urn:schemas-microsoft-com:office:word" xmlns:wp="http://schemas.openxmlformats.org/drawingml/2006/wordprocessingDrawing" xmlns:wp14="http://schemas.microsoft.com/office/word/2010/wordprocessingDrawing" xmlns:v="urn:schemas-microsoft-com:vml" xmlns:m="http://schemas.openxmlformats.org/officeDocument/2006/math" xmlns:oel="http://schemas.microsoft.com/office/2019/extlst" xmlns:o="urn:schemas-microsoft-com:office:office" xmlns:am3d="http://schemas.microsoft.com/office/drawing/2017/model3d" xmlns:aink="http://schemas.microsoft.com/office/drawing/2016/ink" xmlns:mc="http://schemas.openxmlformats.org/markup-compatibility/2006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cx="http://schemas.microsoft.com/office/drawing/2014/chartex" xmlns:wpc="http://schemas.microsoft.com/office/word/2010/wordprocessingCanvas" xmlns="" id="{CD58BD1C-B577-4843-C1E4-69AB2EA79106}"/>
              </a:ext>
            </a:extLst>
          </p:cNvPr>
          <p:cNvSpPr/>
          <p:nvPr/>
        </p:nvSpPr>
        <p:spPr>
          <a:xfrm>
            <a:off x="7636925" y="1841147"/>
            <a:ext cx="123065" cy="13834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87342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 smtClean="0"/>
              <a:t>Field Detection Model</a:t>
            </a:r>
            <a:endParaRPr lang="en-IN" sz="3000" b="1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5" t="2829" r="4541" b="24847"/>
          <a:stretch/>
        </p:blipFill>
        <p:spPr>
          <a:xfrm>
            <a:off x="674255" y="1121050"/>
            <a:ext cx="3823854" cy="418407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80" t="2828" r="4022" b="23906"/>
          <a:stretch/>
        </p:blipFill>
        <p:spPr>
          <a:xfrm>
            <a:off x="7749309" y="1110231"/>
            <a:ext cx="3842327" cy="4194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648001" y="2898258"/>
            <a:ext cx="1052945" cy="618836"/>
          </a:xfrm>
          <a:prstGeom prst="rect">
            <a:avLst/>
          </a:prstGeom>
          <a:solidFill>
            <a:srgbClr val="2C466B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 smtClean="0"/>
              <a:t>YOLO</a:t>
            </a:r>
            <a:endParaRPr lang="en-IN" dirty="0"/>
          </a:p>
        </p:txBody>
      </p:sp>
      <p:cxnSp>
        <p:nvCxnSpPr>
          <p:cNvPr id="17" name="Straight Arrow Connector 16"/>
          <p:cNvCxnSpPr/>
          <p:nvPr/>
        </p:nvCxnSpPr>
        <p:spPr>
          <a:xfrm>
            <a:off x="4812145" y="3207676"/>
            <a:ext cx="7112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6830291" y="3214958"/>
            <a:ext cx="7112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08157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 smtClean="0"/>
              <a:t>Field </a:t>
            </a:r>
            <a:r>
              <a:rPr lang="en-IN" sz="3000" b="1" dirty="0"/>
              <a:t>Detection Model: YOLO</a:t>
            </a:r>
            <a:endParaRPr lang="en-IN" sz="3000" b="1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29" b="24847"/>
          <a:stretch/>
        </p:blipFill>
        <p:spPr>
          <a:xfrm>
            <a:off x="517234" y="1121050"/>
            <a:ext cx="4170255" cy="418407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28" b="23906"/>
          <a:stretch/>
        </p:blipFill>
        <p:spPr>
          <a:xfrm>
            <a:off x="7630390" y="1110231"/>
            <a:ext cx="4127239" cy="4194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648001" y="2898258"/>
            <a:ext cx="1052945" cy="6188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 smtClean="0"/>
              <a:t>YOLO</a:t>
            </a:r>
            <a:endParaRPr lang="en-IN" dirty="0"/>
          </a:p>
        </p:txBody>
      </p:sp>
      <p:cxnSp>
        <p:nvCxnSpPr>
          <p:cNvPr id="17" name="Straight Arrow Connector 16"/>
          <p:cNvCxnSpPr/>
          <p:nvPr/>
        </p:nvCxnSpPr>
        <p:spPr>
          <a:xfrm>
            <a:off x="4812145" y="3207676"/>
            <a:ext cx="7112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6830291" y="3214958"/>
            <a:ext cx="7112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2538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 smtClean="0"/>
              <a:t>Field Detection Model: YOLO Results</a:t>
            </a:r>
            <a:endParaRPr lang="en-IN" sz="3000" b="1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8087465" y="2183201"/>
            <a:ext cx="2885334" cy="1980023"/>
            <a:chOff x="3709429" y="1607493"/>
            <a:chExt cx="2885334" cy="1980023"/>
          </a:xfrm>
        </p:grpSpPr>
        <p:sp>
          <p:nvSpPr>
            <p:cNvPr id="3" name="Rectangle 2"/>
            <p:cNvSpPr/>
            <p:nvPr/>
          </p:nvSpPr>
          <p:spPr>
            <a:xfrm>
              <a:off x="4498109" y="2235200"/>
              <a:ext cx="997527" cy="63730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597236" y="2235200"/>
              <a:ext cx="997527" cy="63730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498108" y="2949685"/>
              <a:ext cx="997527" cy="63730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597236" y="2950207"/>
              <a:ext cx="997527" cy="63730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208347" y="1607493"/>
              <a:ext cx="7777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 smtClean="0"/>
                <a:t>Actual</a:t>
              </a:r>
              <a:endParaRPr lang="en-IN" dirty="0"/>
            </a:p>
          </p:txBody>
        </p:sp>
        <p:sp>
          <p:nvSpPr>
            <p:cNvPr id="22" name="TextBox 21"/>
            <p:cNvSpPr txBox="1"/>
            <p:nvPr/>
          </p:nvSpPr>
          <p:spPr>
            <a:xfrm rot="16200000">
              <a:off x="3323169" y="2665747"/>
              <a:ext cx="11418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 smtClean="0"/>
                <a:t>Prediction</a:t>
              </a:r>
              <a:endParaRPr lang="en-IN" dirty="0"/>
            </a:p>
          </p:txBody>
        </p:sp>
      </p:grpSp>
    </p:spTree>
    <p:extLst>
      <p:ext uri="{BB962C8B-B14F-4D97-AF65-F5344CB8AC3E}">
        <p14:creationId xmlns:p14="http://schemas.microsoft.com/office/powerpoint/2010/main" val="5571578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 smtClean="0"/>
              <a:t>Field Matching</a:t>
            </a:r>
            <a:endParaRPr lang="en-IN" sz="3000" b="1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6112812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 smtClean="0"/>
              <a:t>OCR Model</a:t>
            </a:r>
            <a:endParaRPr lang="en-IN" sz="3000" b="1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0677073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 smtClean="0"/>
              <a:t>OCR Results</a:t>
            </a:r>
            <a:endParaRPr lang="en-IN" sz="3000" b="1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576147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 smtClean="0"/>
              <a:t>Layout Aware Error Correction</a:t>
            </a:r>
            <a:endParaRPr lang="en-IN" sz="3000" b="1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7118324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 smtClean="0"/>
              <a:t>Final Results</a:t>
            </a:r>
            <a:endParaRPr lang="en-IN" sz="3000" b="1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  <p:graphicFrame>
        <p:nvGraphicFramePr>
          <p:cNvPr id="13" name="Chart 12">
            <a:extLst>
              <a:ext uri="{FF2B5EF4-FFF2-40B4-BE49-F238E27FC236}">
                <a16:creationId xmlns="" xmlns:xdr="http://schemas.openxmlformats.org/drawingml/2006/spreadsheetDrawing" xmlns:a16="http://schemas.microsoft.com/office/drawing/2014/main" xmlns:lc="http://schemas.openxmlformats.org/drawingml/2006/lockedCanvas" id="{9042CB20-ED86-6031-CCD0-AC67A943556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27312530"/>
              </p:ext>
            </p:extLst>
          </p:nvPr>
        </p:nvGraphicFramePr>
        <p:xfrm>
          <a:off x="646544" y="1125333"/>
          <a:ext cx="4572000" cy="2857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1956018"/>
              </p:ext>
            </p:extLst>
          </p:nvPr>
        </p:nvGraphicFramePr>
        <p:xfrm>
          <a:off x="5866014" y="1162215"/>
          <a:ext cx="5239212" cy="301124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24326"/>
                <a:gridCol w="703426"/>
                <a:gridCol w="714051"/>
                <a:gridCol w="1193628"/>
                <a:gridCol w="1003781"/>
              </a:tblGrid>
              <a:tr h="49200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Model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CER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WER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Field Accuracy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Final Score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49200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YOLO + Tesseract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72.54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159.32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2.24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-10.81</a:t>
                      </a:r>
                      <a:endParaRPr lang="en-IN" sz="160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49200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YOLO + Custom OCR</a:t>
                      </a:r>
                      <a:endParaRPr lang="en-IN" sz="160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37.58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46.93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62.58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40.51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49200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YOLO + TrOCR</a:t>
                      </a:r>
                      <a:endParaRPr lang="en-IN" sz="160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29.79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114.12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6.27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20.56</a:t>
                      </a:r>
                      <a:endParaRPr lang="en-IN" sz="1600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104321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</a:rPr>
                        <a:t>YOLO + </a:t>
                      </a:r>
                      <a:r>
                        <a:rPr lang="en-US" sz="1600" b="1" dirty="0" err="1">
                          <a:effectLst/>
                        </a:rPr>
                        <a:t>TrOCR</a:t>
                      </a:r>
                      <a:r>
                        <a:rPr lang="en-US" sz="1600" b="1" dirty="0">
                          <a:effectLst/>
                        </a:rPr>
                        <a:t> + Layout Aware Post Processing</a:t>
                      </a:r>
                      <a:endParaRPr lang="en-IN" sz="1600" b="1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>
                          <a:effectLst/>
                        </a:rPr>
                        <a:t>15.82</a:t>
                      </a:r>
                      <a:endParaRPr lang="en-IN" sz="1600" b="1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</a:rPr>
                        <a:t>41.62</a:t>
                      </a:r>
                      <a:endParaRPr lang="en-IN" sz="1600" b="1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</a:rPr>
                        <a:t>47.52</a:t>
                      </a:r>
                      <a:endParaRPr lang="en-IN" sz="1600" b="1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</a:rPr>
                        <a:t>57.02</a:t>
                      </a:r>
                      <a:endParaRPr lang="en-IN" sz="1600" b="1" dirty="0">
                        <a:effectLst/>
                        <a:latin typeface="Georgia" panose="02040502050405020303" pitchFamily="18" charset="0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89266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 smtClean="0"/>
              <a:t>Final Results</a:t>
            </a:r>
            <a:endParaRPr lang="en-IN" sz="3000" b="1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  <p:graphicFrame>
        <p:nvGraphicFramePr>
          <p:cNvPr id="12" name="Chart 11">
            <a:extLst>
              <a:ext uri="{FF2B5EF4-FFF2-40B4-BE49-F238E27FC236}">
                <a16:creationId xmlns="" xmlns:xdr="http://schemas.openxmlformats.org/drawingml/2006/spreadsheetDrawing" xmlns:a16="http://schemas.microsoft.com/office/drawing/2014/main" xmlns:lc="http://schemas.openxmlformats.org/drawingml/2006/lockedCanvas" id="{6BBF3BAB-B971-ED80-9613-D3B88494038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49676024"/>
              </p:ext>
            </p:extLst>
          </p:nvPr>
        </p:nvGraphicFramePr>
        <p:xfrm>
          <a:off x="675322" y="1463040"/>
          <a:ext cx="5568314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5" name="Chart 14">
            <a:extLst>
              <a:ext uri="{FF2B5EF4-FFF2-40B4-BE49-F238E27FC236}">
                <a16:creationId xmlns="" xmlns:xdr="http://schemas.openxmlformats.org/drawingml/2006/spreadsheetDrawing" xmlns:a16="http://schemas.microsoft.com/office/drawing/2014/main" xmlns:lc="http://schemas.openxmlformats.org/drawingml/2006/lockedCanvas" id="{83EC7115-C3EB-A3C4-7D04-8EC148A0C8F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35204179"/>
              </p:ext>
            </p:extLst>
          </p:nvPr>
        </p:nvGraphicFramePr>
        <p:xfrm>
          <a:off x="6243636" y="1463040"/>
          <a:ext cx="5283345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35822245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 smtClean="0"/>
              <a:t>Challenges and Learnings</a:t>
            </a:r>
            <a:endParaRPr lang="en-IN" sz="3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6544" y="954800"/>
            <a:ext cx="11139055" cy="5222163"/>
          </a:xfrm>
        </p:spPr>
        <p:txBody>
          <a:bodyPr>
            <a:normAutofit/>
          </a:bodyPr>
          <a:lstStyle/>
          <a:p>
            <a:r>
              <a:rPr lang="en-IN" sz="1800" dirty="0"/>
              <a:t>Problem </a:t>
            </a:r>
            <a:r>
              <a:rPr lang="en-IN" sz="1800" dirty="0" smtClean="0"/>
              <a:t>Statement</a:t>
            </a:r>
            <a:endParaRPr lang="en-IN" sz="1400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9904302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 smtClean="0"/>
              <a:t>Future Work</a:t>
            </a:r>
            <a:endParaRPr lang="en-IN" sz="3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6544" y="954800"/>
            <a:ext cx="11139055" cy="5222163"/>
          </a:xfrm>
        </p:spPr>
        <p:txBody>
          <a:bodyPr>
            <a:normAutofit/>
          </a:bodyPr>
          <a:lstStyle/>
          <a:p>
            <a:r>
              <a:rPr lang="en-IN" sz="1800" dirty="0"/>
              <a:t>Problem </a:t>
            </a:r>
            <a:r>
              <a:rPr lang="en-IN" sz="1800" dirty="0" smtClean="0"/>
              <a:t>Statement</a:t>
            </a:r>
            <a:endParaRPr lang="en-IN" sz="1400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7144333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561590"/>
            <a:ext cx="12192000" cy="2964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0845800" cy="503263"/>
          </a:xfrm>
        </p:spPr>
        <p:txBody>
          <a:bodyPr>
            <a:normAutofit/>
          </a:bodyPr>
          <a:lstStyle/>
          <a:p>
            <a:r>
              <a:rPr lang="en-IN" sz="3000" b="1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6544" y="954800"/>
            <a:ext cx="11139055" cy="5222163"/>
          </a:xfrm>
        </p:spPr>
        <p:txBody>
          <a:bodyPr>
            <a:normAutofit/>
          </a:bodyPr>
          <a:lstStyle/>
          <a:p>
            <a:r>
              <a:rPr lang="en-IN" sz="1800" dirty="0"/>
              <a:t>Problem </a:t>
            </a:r>
            <a:r>
              <a:rPr lang="en-IN" sz="1800" dirty="0" smtClean="0"/>
              <a:t>Statement</a:t>
            </a:r>
            <a:endParaRPr lang="en-IN" sz="1400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426720" y="6475178"/>
            <a:ext cx="1176528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8068" y="6561590"/>
            <a:ext cx="1523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err="1" smtClean="0">
                <a:solidFill>
                  <a:schemeClr val="bg1"/>
                </a:solidFill>
                <a:cs typeface="Times New Roman" panose="02020603050405020304" pitchFamily="18" charset="0"/>
              </a:rPr>
              <a:t>DeHaDo</a:t>
            </a:r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-AI Challenge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31574" y="6571295"/>
            <a:ext cx="1893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 smtClean="0">
                <a:solidFill>
                  <a:schemeClr val="bg1"/>
                </a:solidFill>
                <a:cs typeface="Times New Roman" panose="02020603050405020304" pitchFamily="18" charset="0"/>
              </a:rPr>
              <a:t>NCVPRIPG 2025, IIT Jammu</a:t>
            </a:r>
            <a:endParaRPr lang="en-IN" sz="1200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7549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Isosceles Triangle 9"/>
          <p:cNvSpPr/>
          <p:nvPr/>
        </p:nvSpPr>
        <p:spPr>
          <a:xfrm rot="5400000">
            <a:off x="-726" y="6171660"/>
            <a:ext cx="428171" cy="426720"/>
          </a:xfrm>
          <a:prstGeom prst="triangle">
            <a:avLst>
              <a:gd name="adj" fmla="val 10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18" y="6052414"/>
            <a:ext cx="432000" cy="43200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7925" y="6218234"/>
            <a:ext cx="25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7762769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15881</TotalTime>
  <Words>410</Words>
  <Application>Microsoft Office PowerPoint</Application>
  <PresentationFormat>Widescreen</PresentationFormat>
  <Paragraphs>188</Paragraphs>
  <Slides>19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8" baseType="lpstr">
      <vt:lpstr>Aptos</vt:lpstr>
      <vt:lpstr>Arial</vt:lpstr>
      <vt:lpstr>Calibri</vt:lpstr>
      <vt:lpstr>Calibri Light</vt:lpstr>
      <vt:lpstr>Cambria</vt:lpstr>
      <vt:lpstr>Georgia</vt:lpstr>
      <vt:lpstr>Times New Roman</vt:lpstr>
      <vt:lpstr>Wingdings</vt:lpstr>
      <vt:lpstr>Office Theme</vt:lpstr>
      <vt:lpstr>Handwritten Form Recognition using YOLO and TrOCR with Layout Aware Error Correction</vt:lpstr>
      <vt:lpstr>Agenda</vt:lpstr>
      <vt:lpstr>Team Introduction</vt:lpstr>
      <vt:lpstr>Problem Statement</vt:lpstr>
      <vt:lpstr>Related Work</vt:lpstr>
      <vt:lpstr>Dataset Overview</vt:lpstr>
      <vt:lpstr>Model Architecture</vt:lpstr>
      <vt:lpstr>Field Detection Model</vt:lpstr>
      <vt:lpstr>Field Detection Model: YOLO</vt:lpstr>
      <vt:lpstr>Field Detection Model: YOLO Results</vt:lpstr>
      <vt:lpstr>Field Matching</vt:lpstr>
      <vt:lpstr>OCR Model</vt:lpstr>
      <vt:lpstr>OCR Results</vt:lpstr>
      <vt:lpstr>Layout Aware Error Correction</vt:lpstr>
      <vt:lpstr>Final Results</vt:lpstr>
      <vt:lpstr>Final Results</vt:lpstr>
      <vt:lpstr>Challenges and Learnings</vt:lpstr>
      <vt:lpstr>Future Work</vt:lpstr>
      <vt:lpstr>Agenda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Powered Technological Advancements in Industrial Systems</dc:title>
  <dc:creator>Muthukumar G</dc:creator>
  <cp:lastModifiedBy>Muthukumar G</cp:lastModifiedBy>
  <cp:revision>312</cp:revision>
  <dcterms:created xsi:type="dcterms:W3CDTF">2025-05-06T11:45:32Z</dcterms:created>
  <dcterms:modified xsi:type="dcterms:W3CDTF">2025-07-16T11:40:56Z</dcterms:modified>
</cp:coreProperties>
</file>