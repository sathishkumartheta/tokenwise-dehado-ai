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272" r:id="rId11"/>
    <p:sldId id="264" r:id="rId12"/>
    <p:sldId id="274" r:id="rId13"/>
    <p:sldId id="268" r:id="rId14"/>
    <p:sldId id="265" r:id="rId15"/>
    <p:sldId id="267" r:id="rId16"/>
    <p:sldId id="266" r:id="rId17"/>
    <p:sldId id="273" r:id="rId18"/>
    <p:sldId id="275" r:id="rId19"/>
    <p:sldId id="269" r:id="rId20"/>
    <p:sldId id="27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E79"/>
    <a:srgbClr val="2C466B"/>
    <a:srgbClr val="FFFEF9"/>
    <a:srgbClr val="8BADDE"/>
    <a:srgbClr val="5B9BD5"/>
    <a:srgbClr val="89AEDB"/>
    <a:srgbClr val="3D64A0"/>
    <a:srgbClr val="DE7428"/>
    <a:srgbClr val="3C649F"/>
    <a:srgbClr val="4A79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1" autoAdjust="0"/>
    <p:restoredTop sz="94660"/>
  </p:normalViewPr>
  <p:slideViewPr>
    <p:cSldViewPr snapToGrid="0">
      <p:cViewPr varScale="1">
        <p:scale>
          <a:sx n="79" d="100"/>
          <a:sy n="79" d="100"/>
        </p:scale>
        <p:origin x="96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Nextstep\MLChallenge\DeHaDo_AI\ToUpload\ToUpload\yolotrainingresults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F:\Muthu_2023\Personal\NextStep\Hackathon\DeHaDo_AI\tokenwise-dehado-ai\results\Final\Plot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F:\Muthu_2023\Personal\NextStep\Hackathon\DeHaDo_AI\tokenwise-dehado-ai\results\Final\Plot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F:\Muthu_2023\Personal\NextStep\Hackathon\DeHaDo_AI\tokenwise-dehado-ai\results\Final\Plot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yolotrainingresults!$C$1</c:f>
              <c:strCache>
                <c:ptCount val="1"/>
                <c:pt idx="0">
                  <c:v>train/box_loss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yolotrainingresults!$A$2:$A$51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xVal>
          <c:yVal>
            <c:numRef>
              <c:f>yolotrainingresults!$C$2:$C$51</c:f>
              <c:numCache>
                <c:formatCode>General</c:formatCode>
                <c:ptCount val="50"/>
                <c:pt idx="0">
                  <c:v>2.1082399999999999</c:v>
                </c:pt>
                <c:pt idx="1">
                  <c:v>1.60215</c:v>
                </c:pt>
                <c:pt idx="2">
                  <c:v>1.56382</c:v>
                </c:pt>
                <c:pt idx="3">
                  <c:v>1.5727599999999999</c:v>
                </c:pt>
                <c:pt idx="4">
                  <c:v>1.53806</c:v>
                </c:pt>
                <c:pt idx="5">
                  <c:v>1.5072700000000001</c:v>
                </c:pt>
                <c:pt idx="6">
                  <c:v>1.48868</c:v>
                </c:pt>
                <c:pt idx="7">
                  <c:v>1.4878899999999999</c:v>
                </c:pt>
                <c:pt idx="8">
                  <c:v>1.46665</c:v>
                </c:pt>
                <c:pt idx="9">
                  <c:v>1.4710099999999999</c:v>
                </c:pt>
                <c:pt idx="10">
                  <c:v>1.45428</c:v>
                </c:pt>
                <c:pt idx="11">
                  <c:v>1.4535899999999999</c:v>
                </c:pt>
                <c:pt idx="12">
                  <c:v>1.4295899999999999</c:v>
                </c:pt>
                <c:pt idx="13">
                  <c:v>1.4459299999999999</c:v>
                </c:pt>
                <c:pt idx="14">
                  <c:v>1.41774</c:v>
                </c:pt>
                <c:pt idx="15">
                  <c:v>1.4288000000000001</c:v>
                </c:pt>
                <c:pt idx="16">
                  <c:v>1.4165399999999999</c:v>
                </c:pt>
                <c:pt idx="17">
                  <c:v>1.4129100000000001</c:v>
                </c:pt>
                <c:pt idx="18">
                  <c:v>1.40038</c:v>
                </c:pt>
                <c:pt idx="19">
                  <c:v>1.3912800000000001</c:v>
                </c:pt>
                <c:pt idx="20">
                  <c:v>1.38252</c:v>
                </c:pt>
                <c:pt idx="21">
                  <c:v>1.3787</c:v>
                </c:pt>
                <c:pt idx="22">
                  <c:v>1.37015</c:v>
                </c:pt>
                <c:pt idx="23">
                  <c:v>1.3652899999999999</c:v>
                </c:pt>
                <c:pt idx="24">
                  <c:v>1.3683799999999999</c:v>
                </c:pt>
                <c:pt idx="25">
                  <c:v>1.33378</c:v>
                </c:pt>
                <c:pt idx="26">
                  <c:v>1.3346899999999999</c:v>
                </c:pt>
                <c:pt idx="27">
                  <c:v>1.34182</c:v>
                </c:pt>
                <c:pt idx="28">
                  <c:v>1.33175</c:v>
                </c:pt>
                <c:pt idx="29">
                  <c:v>1.3166</c:v>
                </c:pt>
                <c:pt idx="30">
                  <c:v>1.32233</c:v>
                </c:pt>
                <c:pt idx="31">
                  <c:v>1.30199</c:v>
                </c:pt>
                <c:pt idx="32">
                  <c:v>1.3028</c:v>
                </c:pt>
                <c:pt idx="33">
                  <c:v>1.2779199999999999</c:v>
                </c:pt>
                <c:pt idx="34">
                  <c:v>1.2829600000000001</c:v>
                </c:pt>
                <c:pt idx="35">
                  <c:v>1.2846</c:v>
                </c:pt>
                <c:pt idx="36">
                  <c:v>1.28308</c:v>
                </c:pt>
                <c:pt idx="37">
                  <c:v>1.28183</c:v>
                </c:pt>
                <c:pt idx="38">
                  <c:v>1.2729600000000001</c:v>
                </c:pt>
                <c:pt idx="39">
                  <c:v>1.2579899999999999</c:v>
                </c:pt>
                <c:pt idx="40">
                  <c:v>1.2523899999999999</c:v>
                </c:pt>
                <c:pt idx="41">
                  <c:v>1.24048</c:v>
                </c:pt>
                <c:pt idx="42">
                  <c:v>1.2247399999999999</c:v>
                </c:pt>
                <c:pt idx="43">
                  <c:v>1.2168300000000001</c:v>
                </c:pt>
                <c:pt idx="44">
                  <c:v>1.2045300000000001</c:v>
                </c:pt>
                <c:pt idx="45">
                  <c:v>1.2090799999999999</c:v>
                </c:pt>
                <c:pt idx="46">
                  <c:v>1.2029700000000001</c:v>
                </c:pt>
                <c:pt idx="47">
                  <c:v>1.1883300000000001</c:v>
                </c:pt>
                <c:pt idx="48">
                  <c:v>1.1802999999999999</c:v>
                </c:pt>
                <c:pt idx="49">
                  <c:v>1.16517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740-4406-9F3E-727CF1020690}"/>
            </c:ext>
          </c:extLst>
        </c:ser>
        <c:ser>
          <c:idx val="1"/>
          <c:order val="1"/>
          <c:tx>
            <c:strRef>
              <c:f>yolotrainingresults!$J$1</c:f>
              <c:strCache>
                <c:ptCount val="1"/>
                <c:pt idx="0">
                  <c:v>val/box_loss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yolotrainingresults!$A$2:$A$51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xVal>
          <c:yVal>
            <c:numRef>
              <c:f>yolotrainingresults!$J$2:$J$51</c:f>
              <c:numCache>
                <c:formatCode>General</c:formatCode>
                <c:ptCount val="50"/>
                <c:pt idx="0">
                  <c:v>1.68133</c:v>
                </c:pt>
                <c:pt idx="1">
                  <c:v>1.58388</c:v>
                </c:pt>
                <c:pt idx="2">
                  <c:v>1.5939099999999999</c:v>
                </c:pt>
                <c:pt idx="3">
                  <c:v>1.5428500000000001</c:v>
                </c:pt>
                <c:pt idx="4">
                  <c:v>1.53803</c:v>
                </c:pt>
                <c:pt idx="5">
                  <c:v>1.55088</c:v>
                </c:pt>
                <c:pt idx="6">
                  <c:v>1.5863700000000001</c:v>
                </c:pt>
                <c:pt idx="7">
                  <c:v>1.4911700000000001</c:v>
                </c:pt>
                <c:pt idx="8">
                  <c:v>1.5194700000000001</c:v>
                </c:pt>
                <c:pt idx="9">
                  <c:v>1.49881</c:v>
                </c:pt>
                <c:pt idx="10">
                  <c:v>1.4906699999999999</c:v>
                </c:pt>
                <c:pt idx="11">
                  <c:v>1.4835700000000001</c:v>
                </c:pt>
                <c:pt idx="12">
                  <c:v>1.48377</c:v>
                </c:pt>
                <c:pt idx="13">
                  <c:v>1.4596</c:v>
                </c:pt>
                <c:pt idx="14">
                  <c:v>1.4465300000000001</c:v>
                </c:pt>
                <c:pt idx="15">
                  <c:v>1.4879100000000001</c:v>
                </c:pt>
                <c:pt idx="16">
                  <c:v>1.4590399999999999</c:v>
                </c:pt>
                <c:pt idx="17">
                  <c:v>1.42903</c:v>
                </c:pt>
                <c:pt idx="18">
                  <c:v>1.4976400000000001</c:v>
                </c:pt>
                <c:pt idx="19">
                  <c:v>1.4438</c:v>
                </c:pt>
                <c:pt idx="20">
                  <c:v>1.5338799999999999</c:v>
                </c:pt>
                <c:pt idx="21">
                  <c:v>1.4656400000000001</c:v>
                </c:pt>
                <c:pt idx="22">
                  <c:v>1.38087</c:v>
                </c:pt>
                <c:pt idx="23">
                  <c:v>1.3513299999999999</c:v>
                </c:pt>
                <c:pt idx="24">
                  <c:v>1.4383300000000001</c:v>
                </c:pt>
                <c:pt idx="25">
                  <c:v>1.3952199999999999</c:v>
                </c:pt>
                <c:pt idx="26">
                  <c:v>1.35511</c:v>
                </c:pt>
                <c:pt idx="27">
                  <c:v>1.36788</c:v>
                </c:pt>
                <c:pt idx="28">
                  <c:v>1.3248800000000001</c:v>
                </c:pt>
                <c:pt idx="29">
                  <c:v>1.3258700000000001</c:v>
                </c:pt>
                <c:pt idx="30">
                  <c:v>1.3969499999999999</c:v>
                </c:pt>
                <c:pt idx="31">
                  <c:v>1.42374</c:v>
                </c:pt>
                <c:pt idx="32">
                  <c:v>1.3292600000000001</c:v>
                </c:pt>
                <c:pt idx="33">
                  <c:v>1.2728299999999999</c:v>
                </c:pt>
                <c:pt idx="34">
                  <c:v>1.3034600000000001</c:v>
                </c:pt>
                <c:pt idx="35">
                  <c:v>1.2952900000000001</c:v>
                </c:pt>
                <c:pt idx="36">
                  <c:v>1.2951299999999999</c:v>
                </c:pt>
                <c:pt idx="37">
                  <c:v>1.3090200000000001</c:v>
                </c:pt>
                <c:pt idx="38">
                  <c:v>1.2557</c:v>
                </c:pt>
                <c:pt idx="39">
                  <c:v>1.2522200000000001</c:v>
                </c:pt>
                <c:pt idx="40">
                  <c:v>1.27755</c:v>
                </c:pt>
                <c:pt idx="41">
                  <c:v>1.2944500000000001</c:v>
                </c:pt>
                <c:pt idx="42">
                  <c:v>1.2551000000000001</c:v>
                </c:pt>
                <c:pt idx="43">
                  <c:v>1.2549399999999999</c:v>
                </c:pt>
                <c:pt idx="44">
                  <c:v>1.23926</c:v>
                </c:pt>
                <c:pt idx="45">
                  <c:v>1.27369</c:v>
                </c:pt>
                <c:pt idx="46">
                  <c:v>1.2475700000000001</c:v>
                </c:pt>
                <c:pt idx="47">
                  <c:v>1.2301899999999999</c:v>
                </c:pt>
                <c:pt idx="48">
                  <c:v>1.21662</c:v>
                </c:pt>
                <c:pt idx="49">
                  <c:v>1.21305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740-4406-9F3E-727CF10206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01796752"/>
        <c:axId val="1001823152"/>
      </c:scatterChart>
      <c:valAx>
        <c:axId val="1001796752"/>
        <c:scaling>
          <c:orientation val="minMax"/>
          <c:max val="5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400"/>
                  <a:t>Epochs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1823152"/>
        <c:crosses val="autoZero"/>
        <c:crossBetween val="midCat"/>
      </c:valAx>
      <c:valAx>
        <c:axId val="1001823152"/>
        <c:scaling>
          <c:orientation val="minMax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400"/>
                  <a:t>Loss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179675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Sheet4!$B$1</c:f>
              <c:strCache>
                <c:ptCount val="1"/>
                <c:pt idx="0">
                  <c:v>Custom CTC Model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Sheet4!$A$2:$A$5</c:f>
              <c:strCache>
                <c:ptCount val="4"/>
                <c:pt idx="0">
                  <c:v>CER</c:v>
                </c:pt>
                <c:pt idx="1">
                  <c:v>WER</c:v>
                </c:pt>
                <c:pt idx="2">
                  <c:v>Field Accuracy</c:v>
                </c:pt>
                <c:pt idx="3">
                  <c:v>Final Score</c:v>
                </c:pt>
              </c:strCache>
            </c:strRef>
          </c:cat>
          <c:val>
            <c:numRef>
              <c:f>Sheet4!$B$2:$B$5</c:f>
              <c:numCache>
                <c:formatCode>General</c:formatCode>
                <c:ptCount val="4"/>
                <c:pt idx="0">
                  <c:v>37.58</c:v>
                </c:pt>
                <c:pt idx="1">
                  <c:v>46.93</c:v>
                </c:pt>
                <c:pt idx="2">
                  <c:v>62.58</c:v>
                </c:pt>
                <c:pt idx="3">
                  <c:v>40.51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43-4032-93DE-8D90180C3211}"/>
            </c:ext>
          </c:extLst>
        </c:ser>
        <c:ser>
          <c:idx val="1"/>
          <c:order val="1"/>
          <c:tx>
            <c:strRef>
              <c:f>Sheet4!$C$1</c:f>
              <c:strCache>
                <c:ptCount val="1"/>
                <c:pt idx="0">
                  <c:v>TrOCR Model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Sheet4!$A$2:$A$5</c:f>
              <c:strCache>
                <c:ptCount val="4"/>
                <c:pt idx="0">
                  <c:v>CER</c:v>
                </c:pt>
                <c:pt idx="1">
                  <c:v>WER</c:v>
                </c:pt>
                <c:pt idx="2">
                  <c:v>Field Accuracy</c:v>
                </c:pt>
                <c:pt idx="3">
                  <c:v>Final Score</c:v>
                </c:pt>
              </c:strCache>
            </c:strRef>
          </c:cat>
          <c:val>
            <c:numRef>
              <c:f>Sheet4!$C$2:$C$5</c:f>
              <c:numCache>
                <c:formatCode>General</c:formatCode>
                <c:ptCount val="4"/>
                <c:pt idx="0">
                  <c:v>15.82</c:v>
                </c:pt>
                <c:pt idx="1">
                  <c:v>41.62</c:v>
                </c:pt>
                <c:pt idx="2">
                  <c:v>47.52</c:v>
                </c:pt>
                <c:pt idx="3">
                  <c:v>57.02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43-4032-93DE-8D90180C32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97783712"/>
        <c:axId val="1297782032"/>
      </c:barChart>
      <c:catAx>
        <c:axId val="1297783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7782032"/>
        <c:crosses val="autoZero"/>
        <c:auto val="1"/>
        <c:lblAlgn val="ctr"/>
        <c:lblOffset val="100"/>
        <c:noMultiLvlLbl val="0"/>
      </c:catAx>
      <c:valAx>
        <c:axId val="1297782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77837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CER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Sheet2!$A$2:$A$22</c:f>
              <c:strCache>
                <c:ptCount val="21"/>
                <c:pt idx="0">
                  <c:v>aadhaarcard</c:v>
                </c:pt>
                <c:pt idx="1">
                  <c:v>date</c:v>
                </c:pt>
                <c:pt idx="2">
                  <c:v>Dateofbirth</c:v>
                </c:pt>
                <c:pt idx="3">
                  <c:v>permanentaddress</c:v>
                </c:pt>
                <c:pt idx="4">
                  <c:v>presentaddress</c:v>
                </c:pt>
                <c:pt idx="5">
                  <c:v>pancard</c:v>
                </c:pt>
                <c:pt idx="6">
                  <c:v>bloodgroup</c:v>
                </c:pt>
                <c:pt idx="7">
                  <c:v>experience1</c:v>
                </c:pt>
                <c:pt idx="8">
                  <c:v>experience</c:v>
                </c:pt>
                <c:pt idx="9">
                  <c:v>referencescmob1</c:v>
                </c:pt>
                <c:pt idx="10">
                  <c:v>referencescmob2</c:v>
                </c:pt>
                <c:pt idx="11">
                  <c:v>Fatherhusbandname</c:v>
                </c:pt>
                <c:pt idx="12">
                  <c:v>candidatename</c:v>
                </c:pt>
                <c:pt idx="13">
                  <c:v>contactnumber</c:v>
                </c:pt>
                <c:pt idx="14">
                  <c:v>AlternateNo</c:v>
                </c:pt>
                <c:pt idx="15">
                  <c:v>place</c:v>
                </c:pt>
                <c:pt idx="16">
                  <c:v>qualification</c:v>
                </c:pt>
                <c:pt idx="17">
                  <c:v>nationality</c:v>
                </c:pt>
                <c:pt idx="18">
                  <c:v>languageknown</c:v>
                </c:pt>
                <c:pt idx="19">
                  <c:v>maritalstatus</c:v>
                </c:pt>
                <c:pt idx="20">
                  <c:v>gender</c:v>
                </c:pt>
              </c:strCache>
            </c:strRef>
          </c:cat>
          <c:val>
            <c:numRef>
              <c:f>Sheet2!$B$2:$B$22</c:f>
              <c:numCache>
                <c:formatCode>General</c:formatCode>
                <c:ptCount val="21"/>
                <c:pt idx="0">
                  <c:v>68.130779392338098</c:v>
                </c:pt>
                <c:pt idx="1">
                  <c:v>28.867505551443301</c:v>
                </c:pt>
                <c:pt idx="2">
                  <c:v>28.046421663442899</c:v>
                </c:pt>
                <c:pt idx="3">
                  <c:v>24.747729566094801</c:v>
                </c:pt>
                <c:pt idx="4">
                  <c:v>24.1718946047678</c:v>
                </c:pt>
                <c:pt idx="5">
                  <c:v>16.057692307692299</c:v>
                </c:pt>
                <c:pt idx="6">
                  <c:v>15.9958720330237</c:v>
                </c:pt>
                <c:pt idx="7">
                  <c:v>14.9511831871586</c:v>
                </c:pt>
                <c:pt idx="8">
                  <c:v>14.3938763624261</c:v>
                </c:pt>
                <c:pt idx="9">
                  <c:v>12.272016675351701</c:v>
                </c:pt>
                <c:pt idx="10">
                  <c:v>11.113043478260799</c:v>
                </c:pt>
                <c:pt idx="11">
                  <c:v>10.8283703302652</c:v>
                </c:pt>
                <c:pt idx="12">
                  <c:v>9.6209386281588394</c:v>
                </c:pt>
                <c:pt idx="13">
                  <c:v>8.8888888888888893</c:v>
                </c:pt>
                <c:pt idx="14">
                  <c:v>8.7640449438202204</c:v>
                </c:pt>
                <c:pt idx="15">
                  <c:v>8.6285195277020801</c:v>
                </c:pt>
                <c:pt idx="16">
                  <c:v>5.6635202665186002</c:v>
                </c:pt>
                <c:pt idx="17">
                  <c:v>5.5177626606198</c:v>
                </c:pt>
                <c:pt idx="18">
                  <c:v>4.2248413417951003</c:v>
                </c:pt>
                <c:pt idx="19">
                  <c:v>2.42686170212765</c:v>
                </c:pt>
                <c:pt idx="20">
                  <c:v>1.11806797853309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30-493C-AD1F-E53095F66D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53890864"/>
        <c:axId val="1053894784"/>
      </c:barChart>
      <c:catAx>
        <c:axId val="1053890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3894784"/>
        <c:crosses val="autoZero"/>
        <c:auto val="1"/>
        <c:lblAlgn val="ctr"/>
        <c:lblOffset val="100"/>
        <c:noMultiLvlLbl val="0"/>
      </c:catAx>
      <c:valAx>
        <c:axId val="1053894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38908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 rot="0" vert="horz"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Sheet2!$E$1</c:f>
              <c:strCache>
                <c:ptCount val="1"/>
                <c:pt idx="0">
                  <c:v>WER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Sheet2!$D$2:$D$22</c:f>
              <c:strCache>
                <c:ptCount val="21"/>
                <c:pt idx="0">
                  <c:v>aadhaarcard</c:v>
                </c:pt>
                <c:pt idx="1">
                  <c:v>permanentaddress</c:v>
                </c:pt>
                <c:pt idx="2">
                  <c:v>presentaddress</c:v>
                </c:pt>
                <c:pt idx="3">
                  <c:v>date</c:v>
                </c:pt>
                <c:pt idx="4">
                  <c:v>Dateofbirth</c:v>
                </c:pt>
                <c:pt idx="5">
                  <c:v>pancard</c:v>
                </c:pt>
                <c:pt idx="6">
                  <c:v>contactnumber</c:v>
                </c:pt>
                <c:pt idx="7">
                  <c:v>AlternateNo</c:v>
                </c:pt>
                <c:pt idx="8">
                  <c:v>referencescmob1</c:v>
                </c:pt>
                <c:pt idx="9">
                  <c:v>referencescmob2</c:v>
                </c:pt>
                <c:pt idx="10">
                  <c:v>experience1</c:v>
                </c:pt>
                <c:pt idx="11">
                  <c:v>Fatherhusbandname</c:v>
                </c:pt>
                <c:pt idx="12">
                  <c:v>experience</c:v>
                </c:pt>
                <c:pt idx="13">
                  <c:v>bloodgroup</c:v>
                </c:pt>
                <c:pt idx="14">
                  <c:v>candidatename</c:v>
                </c:pt>
                <c:pt idx="15">
                  <c:v>place</c:v>
                </c:pt>
                <c:pt idx="16">
                  <c:v>qualification</c:v>
                </c:pt>
                <c:pt idx="17">
                  <c:v>nationality</c:v>
                </c:pt>
                <c:pt idx="18">
                  <c:v>languageknown</c:v>
                </c:pt>
                <c:pt idx="19">
                  <c:v>maritalstatus</c:v>
                </c:pt>
                <c:pt idx="20">
                  <c:v>gender</c:v>
                </c:pt>
              </c:strCache>
            </c:strRef>
          </c:cat>
          <c:val>
            <c:numRef>
              <c:f>Sheet2!$E$2:$E$22</c:f>
              <c:numCache>
                <c:formatCode>General</c:formatCode>
                <c:ptCount val="21"/>
                <c:pt idx="0">
                  <c:v>102.222222222222</c:v>
                </c:pt>
                <c:pt idx="1">
                  <c:v>75.081206496519698</c:v>
                </c:pt>
                <c:pt idx="2">
                  <c:v>71.925011431184203</c:v>
                </c:pt>
                <c:pt idx="3">
                  <c:v>68.721461187214601</c:v>
                </c:pt>
                <c:pt idx="4">
                  <c:v>67.561521252796396</c:v>
                </c:pt>
                <c:pt idx="5">
                  <c:v>64.423076923076906</c:v>
                </c:pt>
                <c:pt idx="6">
                  <c:v>48.4444444444444</c:v>
                </c:pt>
                <c:pt idx="7">
                  <c:v>46.966292134831399</c:v>
                </c:pt>
                <c:pt idx="8">
                  <c:v>38.9444444444444</c:v>
                </c:pt>
                <c:pt idx="9">
                  <c:v>37.2222222222222</c:v>
                </c:pt>
                <c:pt idx="10">
                  <c:v>35.437881873727001</c:v>
                </c:pt>
                <c:pt idx="11">
                  <c:v>35.267857142857103</c:v>
                </c:pt>
                <c:pt idx="12">
                  <c:v>34.472817133443101</c:v>
                </c:pt>
                <c:pt idx="13">
                  <c:v>33.957845433255201</c:v>
                </c:pt>
                <c:pt idx="14">
                  <c:v>33.2962138084632</c:v>
                </c:pt>
                <c:pt idx="15">
                  <c:v>16.252821670428801</c:v>
                </c:pt>
                <c:pt idx="16">
                  <c:v>12.2895622895622</c:v>
                </c:pt>
                <c:pt idx="17">
                  <c:v>9.2970521541950095</c:v>
                </c:pt>
                <c:pt idx="18">
                  <c:v>8.8430361090641103</c:v>
                </c:pt>
                <c:pt idx="19">
                  <c:v>4.46428571428571</c:v>
                </c:pt>
                <c:pt idx="20">
                  <c:v>2.2471910112359499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51-4183-9891-75D167625B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79876016"/>
        <c:axId val="1179878816"/>
      </c:barChart>
      <c:catAx>
        <c:axId val="1179876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9878816"/>
        <c:crosses val="autoZero"/>
        <c:auto val="1"/>
        <c:lblAlgn val="ctr"/>
        <c:lblOffset val="100"/>
        <c:noMultiLvlLbl val="0"/>
      </c:catAx>
      <c:valAx>
        <c:axId val="1179878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9876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B2940D-9C20-4E88-B6DA-1821C75C2316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D53BEA-5E52-4666-A8DD-6A0310A59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526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D53BEA-5E52-4666-A8DD-6A0310A59CA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341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D53BEA-5E52-4666-A8DD-6A0310A59CA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7752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D53BEA-5E52-4666-A8DD-6A0310A59CA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83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D53BEA-5E52-4666-A8DD-6A0310A59CA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213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D53BEA-5E52-4666-A8DD-6A0310A59CA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913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D53BEA-5E52-4666-A8DD-6A0310A59CA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605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D53BEA-5E52-4666-A8DD-6A0310A59CA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592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D53BEA-5E52-4666-A8DD-6A0310A59CA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6225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D53BEA-5E52-4666-A8DD-6A0310A59CA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4917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D53BEA-5E52-4666-A8DD-6A0310A59CA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7321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D53BEA-5E52-4666-A8DD-6A0310A59CA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1491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D53BEA-5E52-4666-A8DD-6A0310A59CA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284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D53BEA-5E52-4666-A8DD-6A0310A59CA8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3964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D53BEA-5E52-4666-A8DD-6A0310A59CA8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0906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D53BEA-5E52-4666-A8DD-6A0310A59CA8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195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D53BEA-5E52-4666-A8DD-6A0310A59CA8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6849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45B38-1126-0418-5676-4679E07CC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C79498-A657-D194-E8AB-DCA361DDE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0E63A4-4D7C-00DF-95B0-A3A5DA13B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0E2F1-2EAF-0CD0-C8F5-99945F2732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D53BEA-5E52-4666-A8DD-6A0310A59CA8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2474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D53BEA-5E52-4666-A8DD-6A0310A59CA8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001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D53BEA-5E52-4666-A8DD-6A0310A59CA8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101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7C1D5-1EA4-4B24-B76E-91AF016E39DE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A1358-203B-4575-A845-91135193C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3902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7C1D5-1EA4-4B24-B76E-91AF016E39DE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A1358-203B-4575-A845-91135193C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677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7C1D5-1EA4-4B24-B76E-91AF016E39DE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A1358-203B-4575-A845-91135193C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560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7C1D5-1EA4-4B24-B76E-91AF016E39DE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A1358-203B-4575-A845-91135193C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988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7C1D5-1EA4-4B24-B76E-91AF016E39DE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A1358-203B-4575-A845-91135193C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385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7C1D5-1EA4-4B24-B76E-91AF016E39DE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A1358-203B-4575-A845-91135193C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413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7C1D5-1EA4-4B24-B76E-91AF016E39DE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A1358-203B-4575-A845-91135193C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003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7C1D5-1EA4-4B24-B76E-91AF016E39DE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A1358-203B-4575-A845-91135193C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480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7C1D5-1EA4-4B24-B76E-91AF016E39DE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A1358-203B-4575-A845-91135193C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169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7C1D5-1EA4-4B24-B76E-91AF016E39DE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A1358-203B-4575-A845-91135193C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113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7C1D5-1EA4-4B24-B76E-91AF016E39DE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A1358-203B-4575-A845-91135193C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901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37C1D5-1EA4-4B24-B76E-91AF016E39DE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A1358-203B-4575-A845-91135193C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127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06880" y="1654629"/>
            <a:ext cx="9144000" cy="241227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Handwritten Form Recognition using YOLO and </a:t>
            </a:r>
            <a:r>
              <a:rPr lang="en-US" b="1" dirty="0" err="1">
                <a:solidFill>
                  <a:schemeClr val="bg1"/>
                </a:solidFill>
              </a:rPr>
              <a:t>TrOCR</a:t>
            </a:r>
            <a:r>
              <a:rPr lang="en-US" b="1" dirty="0">
                <a:solidFill>
                  <a:schemeClr val="bg1"/>
                </a:solidFill>
              </a:rPr>
              <a:t> with Layout Aware Error Correction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911634"/>
            <a:ext cx="9144000" cy="125185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5376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561590"/>
            <a:ext cx="12192000" cy="2964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0845800" cy="503263"/>
          </a:xfrm>
        </p:spPr>
        <p:txBody>
          <a:bodyPr>
            <a:normAutofit/>
          </a:bodyPr>
          <a:lstStyle/>
          <a:p>
            <a:r>
              <a:rPr lang="en-IN" sz="3000" b="1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544" y="954800"/>
            <a:ext cx="11139055" cy="5222163"/>
          </a:xfrm>
        </p:spPr>
        <p:txBody>
          <a:bodyPr>
            <a:normAutofit/>
          </a:bodyPr>
          <a:lstStyle/>
          <a:p>
            <a:r>
              <a:rPr lang="en-IN" sz="1800" dirty="0"/>
              <a:t>Problem Statement</a:t>
            </a:r>
            <a:endParaRPr lang="en-IN" sz="1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426720" y="6475178"/>
            <a:ext cx="1176528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18068" y="6561590"/>
            <a:ext cx="1523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DeHaDo</a:t>
            </a:r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-AI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31574" y="6571295"/>
            <a:ext cx="18934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NCVPRIPG 2025, IIT Jammu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7549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Isosceles Triangle 9"/>
          <p:cNvSpPr/>
          <p:nvPr/>
        </p:nvSpPr>
        <p:spPr>
          <a:xfrm rot="5400000">
            <a:off x="-726" y="6171660"/>
            <a:ext cx="428171" cy="426720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18" y="6052414"/>
            <a:ext cx="432000" cy="432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7925" y="6218234"/>
            <a:ext cx="258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04735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561590"/>
            <a:ext cx="12192000" cy="2964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0845800" cy="503263"/>
          </a:xfrm>
        </p:spPr>
        <p:txBody>
          <a:bodyPr>
            <a:normAutofit/>
          </a:bodyPr>
          <a:lstStyle/>
          <a:p>
            <a:r>
              <a:rPr lang="en-IN" sz="3000" b="1" dirty="0"/>
              <a:t>Team Introduction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426720" y="6475178"/>
            <a:ext cx="1176528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18068" y="6561590"/>
            <a:ext cx="1523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DeHaDo</a:t>
            </a:r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-AI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31574" y="6571295"/>
            <a:ext cx="18934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NCVPRIPG 2025, IIT Jammu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7549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Isosceles Triangle 9"/>
          <p:cNvSpPr/>
          <p:nvPr/>
        </p:nvSpPr>
        <p:spPr>
          <a:xfrm rot="5400000">
            <a:off x="-726" y="6171660"/>
            <a:ext cx="428171" cy="426720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18" y="6052414"/>
            <a:ext cx="432000" cy="432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7925" y="6218234"/>
            <a:ext cx="258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91491" y="1745673"/>
            <a:ext cx="1939636" cy="2466109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Rounded Rectangle 18"/>
          <p:cNvSpPr/>
          <p:nvPr/>
        </p:nvSpPr>
        <p:spPr>
          <a:xfrm>
            <a:off x="3717637" y="1745672"/>
            <a:ext cx="1939636" cy="2466109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ounded Rectangle 19"/>
          <p:cNvSpPr/>
          <p:nvPr/>
        </p:nvSpPr>
        <p:spPr>
          <a:xfrm>
            <a:off x="6309360" y="1745672"/>
            <a:ext cx="1939636" cy="2466109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ounded Rectangle 20"/>
          <p:cNvSpPr/>
          <p:nvPr/>
        </p:nvSpPr>
        <p:spPr>
          <a:xfrm>
            <a:off x="8732982" y="1745672"/>
            <a:ext cx="1939636" cy="2466109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/>
          <p:cNvSpPr txBox="1"/>
          <p:nvPr/>
        </p:nvSpPr>
        <p:spPr>
          <a:xfrm>
            <a:off x="8993908" y="3373726"/>
            <a:ext cx="2295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Muthukumar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8563" y="3666345"/>
            <a:ext cx="22952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Scientist, IGCAR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4181" y="3353614"/>
            <a:ext cx="2295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solidFill>
                  <a:schemeClr val="bg1"/>
                </a:solidFill>
              </a:rPr>
              <a:t>Iniya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611850" y="3649377"/>
            <a:ext cx="1334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Data Scientist</a:t>
            </a:r>
          </a:p>
          <a:p>
            <a:pPr algn="ctr"/>
            <a:r>
              <a:rPr lang="en-IN" sz="1400" dirty="0">
                <a:solidFill>
                  <a:schemeClr val="bg1"/>
                </a:solidFill>
              </a:rPr>
              <a:t>Secure Traces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244340" y="3376118"/>
            <a:ext cx="2295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solidFill>
                  <a:schemeClr val="bg1"/>
                </a:solidFill>
              </a:rPr>
              <a:t>Anand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085245" y="3677972"/>
            <a:ext cx="1204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Sr. Consultant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59113" y="3376118"/>
            <a:ext cx="2295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solidFill>
                  <a:schemeClr val="bg1"/>
                </a:solidFill>
              </a:rPr>
              <a:t>Satishkumar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649167" y="3642345"/>
            <a:ext cx="1019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Sr. Scientist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635" y="1890537"/>
            <a:ext cx="1440000" cy="144000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138" y="1885334"/>
            <a:ext cx="1440000" cy="144000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9178" y="1880436"/>
            <a:ext cx="1440000" cy="1440000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2800" y="1890521"/>
            <a:ext cx="1440000" cy="144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3A8581-63FD-D68F-716D-219CF6189B9B}"/>
              </a:ext>
            </a:extLst>
          </p:cNvPr>
          <p:cNvSpPr txBox="1"/>
          <p:nvPr/>
        </p:nvSpPr>
        <p:spPr>
          <a:xfrm>
            <a:off x="1733418" y="3866851"/>
            <a:ext cx="851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IGCAR</a:t>
            </a:r>
          </a:p>
        </p:txBody>
      </p:sp>
    </p:spTree>
    <p:extLst>
      <p:ext uri="{BB962C8B-B14F-4D97-AF65-F5344CB8AC3E}">
        <p14:creationId xmlns:p14="http://schemas.microsoft.com/office/powerpoint/2010/main" val="1101746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561590"/>
            <a:ext cx="12192000" cy="2964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0845800" cy="503263"/>
          </a:xfrm>
        </p:spPr>
        <p:txBody>
          <a:bodyPr>
            <a:normAutofit/>
          </a:bodyPr>
          <a:lstStyle/>
          <a:p>
            <a:r>
              <a:rPr lang="en-IN" sz="3000" b="1" dirty="0"/>
              <a:t>Problem Statement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426720" y="6475178"/>
            <a:ext cx="1176528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18068" y="6561590"/>
            <a:ext cx="1523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DeHaDo</a:t>
            </a:r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-AI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31574" y="6571295"/>
            <a:ext cx="18934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NCVPRIPG 2025, IIT Jammu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7549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Isosceles Triangle 9"/>
          <p:cNvSpPr/>
          <p:nvPr/>
        </p:nvSpPr>
        <p:spPr>
          <a:xfrm rot="5400000">
            <a:off x="-726" y="6171660"/>
            <a:ext cx="428171" cy="426720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18" y="6052414"/>
            <a:ext cx="432000" cy="432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7925" y="6218234"/>
            <a:ext cx="258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0" b="24714"/>
          <a:stretch/>
        </p:blipFill>
        <p:spPr>
          <a:xfrm>
            <a:off x="1015160" y="1259046"/>
            <a:ext cx="4488601" cy="45286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/>
          <a:srcRect t="282"/>
          <a:stretch/>
        </p:blipFill>
        <p:spPr>
          <a:xfrm>
            <a:off x="7177377" y="1259045"/>
            <a:ext cx="3154305" cy="45232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Right Arrow 14"/>
          <p:cNvSpPr/>
          <p:nvPr/>
        </p:nvSpPr>
        <p:spPr>
          <a:xfrm>
            <a:off x="5800436" y="3186545"/>
            <a:ext cx="1025237" cy="683266"/>
          </a:xfrm>
          <a:prstGeom prst="rightArrow">
            <a:avLst/>
          </a:prstGeom>
          <a:solidFill>
            <a:srgbClr val="2C46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1" name="Group 50"/>
          <p:cNvGrpSpPr/>
          <p:nvPr/>
        </p:nvGrpSpPr>
        <p:grpSpPr>
          <a:xfrm>
            <a:off x="1939636" y="784082"/>
            <a:ext cx="7232073" cy="984283"/>
            <a:chOff x="1939636" y="784082"/>
            <a:chExt cx="7232073" cy="984283"/>
          </a:xfrm>
        </p:grpSpPr>
        <p:cxnSp>
          <p:nvCxnSpPr>
            <p:cNvPr id="23" name="Elbow Connector 22"/>
            <p:cNvCxnSpPr/>
            <p:nvPr/>
          </p:nvCxnSpPr>
          <p:spPr>
            <a:xfrm flipV="1">
              <a:off x="1939636" y="784082"/>
              <a:ext cx="7232073" cy="984283"/>
            </a:xfrm>
            <a:prstGeom prst="bentConnector3">
              <a:avLst>
                <a:gd name="adj1" fmla="val -64"/>
              </a:avLst>
            </a:prstGeom>
            <a:ln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9171709" y="784082"/>
              <a:ext cx="0" cy="7491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/>
          <p:cNvGrpSpPr/>
          <p:nvPr/>
        </p:nvGrpSpPr>
        <p:grpSpPr>
          <a:xfrm>
            <a:off x="3259460" y="1431636"/>
            <a:ext cx="5635158" cy="336729"/>
            <a:chOff x="3259460" y="1431636"/>
            <a:chExt cx="5635158" cy="336729"/>
          </a:xfrm>
        </p:grpSpPr>
        <p:cxnSp>
          <p:nvCxnSpPr>
            <p:cNvPr id="42" name="Elbow Connector 41"/>
            <p:cNvCxnSpPr/>
            <p:nvPr/>
          </p:nvCxnSpPr>
          <p:spPr>
            <a:xfrm flipV="1">
              <a:off x="3259460" y="1431636"/>
              <a:ext cx="5635158" cy="336729"/>
            </a:xfrm>
            <a:prstGeom prst="bentConnector3">
              <a:avLst>
                <a:gd name="adj1" fmla="val 9"/>
              </a:avLst>
            </a:prstGeom>
            <a:ln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>
              <a:off x="8894618" y="1431636"/>
              <a:ext cx="0" cy="3367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ectangle 47"/>
          <p:cNvSpPr/>
          <p:nvPr/>
        </p:nvSpPr>
        <p:spPr>
          <a:xfrm>
            <a:off x="2613891" y="1768365"/>
            <a:ext cx="1219200" cy="208217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3971636" y="1872473"/>
            <a:ext cx="3814619" cy="344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9313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4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561590"/>
            <a:ext cx="12192000" cy="2964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0845800" cy="503263"/>
          </a:xfrm>
        </p:spPr>
        <p:txBody>
          <a:bodyPr>
            <a:normAutofit/>
          </a:bodyPr>
          <a:lstStyle/>
          <a:p>
            <a:r>
              <a:rPr lang="en-IN" sz="3000" b="1" dirty="0"/>
              <a:t>Related Work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426720" y="6475178"/>
            <a:ext cx="1176528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18068" y="6561590"/>
            <a:ext cx="1523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DeHaDo</a:t>
            </a:r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-AI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31574" y="6571295"/>
            <a:ext cx="18934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NCVPRIPG 2025, IIT Jammu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7549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Isosceles Triangle 9"/>
          <p:cNvSpPr/>
          <p:nvPr/>
        </p:nvSpPr>
        <p:spPr>
          <a:xfrm rot="5400000">
            <a:off x="-726" y="6171660"/>
            <a:ext cx="428171" cy="426720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18" y="6052414"/>
            <a:ext cx="432000" cy="432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7925" y="6218234"/>
            <a:ext cx="258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1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638527" y="1330085"/>
            <a:ext cx="3464595" cy="4545874"/>
            <a:chOff x="638527" y="1330085"/>
            <a:chExt cx="3464595" cy="4545874"/>
          </a:xfrm>
        </p:grpSpPr>
        <p:sp>
          <p:nvSpPr>
            <p:cNvPr id="11" name="Rectangle 10"/>
            <p:cNvSpPr/>
            <p:nvPr/>
          </p:nvSpPr>
          <p:spPr>
            <a:xfrm>
              <a:off x="638527" y="1330085"/>
              <a:ext cx="3464595" cy="454587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9" name="Group 18"/>
            <p:cNvGrpSpPr/>
            <p:nvPr/>
          </p:nvGrpSpPr>
          <p:grpSpPr>
            <a:xfrm>
              <a:off x="756289" y="3161145"/>
              <a:ext cx="3206111" cy="606623"/>
              <a:chOff x="756289" y="3161145"/>
              <a:chExt cx="3206111" cy="606623"/>
            </a:xfrm>
          </p:grpSpPr>
          <p:sp>
            <p:nvSpPr>
              <p:cNvPr id="13" name="Pentagon 12"/>
              <p:cNvSpPr/>
              <p:nvPr/>
            </p:nvSpPr>
            <p:spPr>
              <a:xfrm>
                <a:off x="756289" y="3161145"/>
                <a:ext cx="3206111" cy="563418"/>
              </a:xfrm>
              <a:prstGeom prst="homePlate">
                <a:avLst/>
              </a:prstGeom>
              <a:solidFill>
                <a:srgbClr val="2C466B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" name="Flowchart: Connector 11"/>
              <p:cNvSpPr/>
              <p:nvPr/>
            </p:nvSpPr>
            <p:spPr>
              <a:xfrm>
                <a:off x="831274" y="3253508"/>
                <a:ext cx="350981" cy="378691"/>
              </a:xfrm>
              <a:prstGeom prst="flowChartConnector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756289" y="3182993"/>
                <a:ext cx="155170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200" dirty="0">
                    <a:solidFill>
                      <a:srgbClr val="2C466B"/>
                    </a:solidFill>
                    <a:sym typeface="Wingdings" panose="05000000000000000000" pitchFamily="2" charset="2"/>
                  </a:rPr>
                  <a:t></a:t>
                </a:r>
                <a:endParaRPr lang="en-IN" sz="3200" dirty="0">
                  <a:solidFill>
                    <a:srgbClr val="2C466B"/>
                  </a:solidFill>
                </a:endParaRP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756289" y="3864587"/>
              <a:ext cx="3206111" cy="606623"/>
              <a:chOff x="756289" y="3161145"/>
              <a:chExt cx="3206111" cy="606623"/>
            </a:xfrm>
          </p:grpSpPr>
          <p:sp>
            <p:nvSpPr>
              <p:cNvPr id="21" name="Pentagon 20"/>
              <p:cNvSpPr/>
              <p:nvPr/>
            </p:nvSpPr>
            <p:spPr>
              <a:xfrm>
                <a:off x="756289" y="3161145"/>
                <a:ext cx="3206111" cy="563418"/>
              </a:xfrm>
              <a:prstGeom prst="homePlate">
                <a:avLst/>
              </a:prstGeom>
              <a:solidFill>
                <a:srgbClr val="2C466B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" name="Flowchart: Connector 21"/>
              <p:cNvSpPr/>
              <p:nvPr/>
            </p:nvSpPr>
            <p:spPr>
              <a:xfrm>
                <a:off x="831274" y="3253508"/>
                <a:ext cx="350981" cy="378691"/>
              </a:xfrm>
              <a:prstGeom prst="flowChartConnector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756289" y="3182993"/>
                <a:ext cx="155170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200" dirty="0">
                    <a:solidFill>
                      <a:srgbClr val="2C466B"/>
                    </a:solidFill>
                    <a:sym typeface="Wingdings" panose="05000000000000000000" pitchFamily="2" charset="2"/>
                  </a:rPr>
                  <a:t></a:t>
                </a:r>
                <a:endParaRPr lang="en-IN" sz="3200" dirty="0">
                  <a:solidFill>
                    <a:srgbClr val="2C466B"/>
                  </a:solidFill>
                </a:endParaRPr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756288" y="4562969"/>
              <a:ext cx="3206111" cy="584775"/>
              <a:chOff x="756288" y="4562969"/>
              <a:chExt cx="3206111" cy="584775"/>
            </a:xfrm>
          </p:grpSpPr>
          <p:sp>
            <p:nvSpPr>
              <p:cNvPr id="25" name="Pentagon 24"/>
              <p:cNvSpPr/>
              <p:nvPr/>
            </p:nvSpPr>
            <p:spPr>
              <a:xfrm>
                <a:off x="756288" y="4569200"/>
                <a:ext cx="3206111" cy="563418"/>
              </a:xfrm>
              <a:prstGeom prst="homePlate">
                <a:avLst/>
              </a:prstGeom>
              <a:solidFill>
                <a:srgbClr val="2C466B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" name="Flowchart: Connector 25"/>
              <p:cNvSpPr/>
              <p:nvPr/>
            </p:nvSpPr>
            <p:spPr>
              <a:xfrm>
                <a:off x="831273" y="4661563"/>
                <a:ext cx="350981" cy="378691"/>
              </a:xfrm>
              <a:prstGeom prst="flowChartConnector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783934" y="4562969"/>
                <a:ext cx="155170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200" dirty="0">
                    <a:solidFill>
                      <a:srgbClr val="2C466B"/>
                    </a:solidFill>
                    <a:sym typeface="Wingdings" panose="05000000000000000000" pitchFamily="2" charset="2"/>
                  </a:rPr>
                  <a:t></a:t>
                </a:r>
                <a:endParaRPr lang="en-IN" sz="3200" dirty="0">
                  <a:solidFill>
                    <a:srgbClr val="2C466B"/>
                  </a:solidFill>
                </a:endParaRPr>
              </a:p>
            </p:txBody>
          </p:sp>
        </p:grpSp>
        <p:grpSp>
          <p:nvGrpSpPr>
            <p:cNvPr id="33" name="Group 32"/>
            <p:cNvGrpSpPr/>
            <p:nvPr/>
          </p:nvGrpSpPr>
          <p:grpSpPr>
            <a:xfrm>
              <a:off x="737169" y="5253796"/>
              <a:ext cx="3206111" cy="584775"/>
              <a:chOff x="756288" y="4562969"/>
              <a:chExt cx="3206111" cy="584775"/>
            </a:xfrm>
          </p:grpSpPr>
          <p:sp>
            <p:nvSpPr>
              <p:cNvPr id="34" name="Pentagon 33"/>
              <p:cNvSpPr/>
              <p:nvPr/>
            </p:nvSpPr>
            <p:spPr>
              <a:xfrm>
                <a:off x="756288" y="4569200"/>
                <a:ext cx="3206111" cy="563418"/>
              </a:xfrm>
              <a:prstGeom prst="homePlate">
                <a:avLst/>
              </a:prstGeom>
              <a:solidFill>
                <a:srgbClr val="2C466B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5" name="Flowchart: Connector 34"/>
              <p:cNvSpPr/>
              <p:nvPr/>
            </p:nvSpPr>
            <p:spPr>
              <a:xfrm>
                <a:off x="831273" y="4661563"/>
                <a:ext cx="350981" cy="378691"/>
              </a:xfrm>
              <a:prstGeom prst="flowChartConnector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783934" y="4562969"/>
                <a:ext cx="155170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200" dirty="0">
                    <a:solidFill>
                      <a:srgbClr val="2C466B"/>
                    </a:solidFill>
                    <a:sym typeface="Wingdings" panose="05000000000000000000" pitchFamily="2" charset="2"/>
                  </a:rPr>
                  <a:t></a:t>
                </a:r>
                <a:endParaRPr lang="en-IN" sz="3200" dirty="0">
                  <a:solidFill>
                    <a:srgbClr val="2C466B"/>
                  </a:solidFill>
                </a:endParaRPr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1229593" y="4570191"/>
              <a:ext cx="263219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600" dirty="0">
                  <a:solidFill>
                    <a:schemeClr val="bg1"/>
                  </a:solidFill>
                </a:rPr>
                <a:t>Not directly suitable for </a:t>
              </a:r>
            </a:p>
            <a:p>
              <a:pPr algn="just"/>
              <a:r>
                <a:rPr lang="en-IN" sz="1600" dirty="0">
                  <a:solidFill>
                    <a:schemeClr val="bg1"/>
                  </a:solidFill>
                </a:rPr>
                <a:t>images with handwritten text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229593" y="5246012"/>
              <a:ext cx="232320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600" dirty="0">
                  <a:solidFill>
                    <a:schemeClr val="bg1"/>
                  </a:solidFill>
                </a:rPr>
                <a:t>Training requires labelled </a:t>
              </a:r>
            </a:p>
            <a:p>
              <a:r>
                <a:rPr lang="en-IN" sz="1600" dirty="0">
                  <a:solidFill>
                    <a:schemeClr val="bg1"/>
                  </a:solidFill>
                </a:rPr>
                <a:t>key value pairs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209583" y="3160645"/>
              <a:ext cx="238667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600" dirty="0">
                  <a:solidFill>
                    <a:schemeClr val="bg1"/>
                  </a:solidFill>
                </a:rPr>
                <a:t>Understands semantic </a:t>
              </a:r>
            </a:p>
            <a:p>
              <a:r>
                <a:rPr lang="en-IN" sz="1600" dirty="0">
                  <a:solidFill>
                    <a:schemeClr val="bg1"/>
                  </a:solidFill>
                </a:rPr>
                <a:t>structure of the document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459689" y="1330085"/>
              <a:ext cx="169661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dirty="0"/>
                <a:t>Layout LM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177484" y="3840946"/>
              <a:ext cx="238667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600" dirty="0">
                  <a:solidFill>
                    <a:schemeClr val="bg1"/>
                  </a:solidFill>
                </a:rPr>
                <a:t>Understands semantic </a:t>
              </a:r>
            </a:p>
            <a:p>
              <a:r>
                <a:rPr lang="en-IN" sz="1600" dirty="0">
                  <a:solidFill>
                    <a:schemeClr val="bg1"/>
                  </a:solidFill>
                </a:rPr>
                <a:t>structure of the document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4248529" y="1320850"/>
            <a:ext cx="3464595" cy="4555109"/>
            <a:chOff x="638527" y="1320850"/>
            <a:chExt cx="3464595" cy="4555109"/>
          </a:xfrm>
        </p:grpSpPr>
        <p:sp>
          <p:nvSpPr>
            <p:cNvPr id="44" name="Rectangle 43"/>
            <p:cNvSpPr/>
            <p:nvPr/>
          </p:nvSpPr>
          <p:spPr>
            <a:xfrm>
              <a:off x="638527" y="1330085"/>
              <a:ext cx="3464595" cy="454587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45" name="Group 44"/>
            <p:cNvGrpSpPr/>
            <p:nvPr/>
          </p:nvGrpSpPr>
          <p:grpSpPr>
            <a:xfrm>
              <a:off x="756289" y="3161145"/>
              <a:ext cx="3206111" cy="606623"/>
              <a:chOff x="756289" y="3161145"/>
              <a:chExt cx="3206111" cy="606623"/>
            </a:xfrm>
          </p:grpSpPr>
          <p:sp>
            <p:nvSpPr>
              <p:cNvPr id="63" name="Pentagon 62"/>
              <p:cNvSpPr/>
              <p:nvPr/>
            </p:nvSpPr>
            <p:spPr>
              <a:xfrm>
                <a:off x="756289" y="3161145"/>
                <a:ext cx="3206111" cy="563418"/>
              </a:xfrm>
              <a:prstGeom prst="homePlate">
                <a:avLst/>
              </a:prstGeom>
              <a:solidFill>
                <a:srgbClr val="2C466B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4" name="Flowchart: Connector 63"/>
              <p:cNvSpPr/>
              <p:nvPr/>
            </p:nvSpPr>
            <p:spPr>
              <a:xfrm>
                <a:off x="831274" y="3253508"/>
                <a:ext cx="350981" cy="378691"/>
              </a:xfrm>
              <a:prstGeom prst="flowChartConnector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756289" y="3182993"/>
                <a:ext cx="155170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200" dirty="0">
                    <a:solidFill>
                      <a:srgbClr val="2C466B"/>
                    </a:solidFill>
                    <a:sym typeface="Wingdings" panose="05000000000000000000" pitchFamily="2" charset="2"/>
                  </a:rPr>
                  <a:t></a:t>
                </a:r>
                <a:endParaRPr lang="en-IN" sz="3200" dirty="0">
                  <a:solidFill>
                    <a:srgbClr val="2C466B"/>
                  </a:solidFill>
                </a:endParaRPr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>
              <a:off x="756289" y="3864587"/>
              <a:ext cx="3206111" cy="606623"/>
              <a:chOff x="756289" y="3161145"/>
              <a:chExt cx="3206111" cy="606623"/>
            </a:xfrm>
          </p:grpSpPr>
          <p:sp>
            <p:nvSpPr>
              <p:cNvPr id="60" name="Pentagon 59"/>
              <p:cNvSpPr/>
              <p:nvPr/>
            </p:nvSpPr>
            <p:spPr>
              <a:xfrm>
                <a:off x="756289" y="3161145"/>
                <a:ext cx="3206111" cy="563418"/>
              </a:xfrm>
              <a:prstGeom prst="homePlate">
                <a:avLst/>
              </a:prstGeom>
              <a:solidFill>
                <a:srgbClr val="2C466B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1" name="Flowchart: Connector 60"/>
              <p:cNvSpPr/>
              <p:nvPr/>
            </p:nvSpPr>
            <p:spPr>
              <a:xfrm>
                <a:off x="831274" y="3253508"/>
                <a:ext cx="350981" cy="378691"/>
              </a:xfrm>
              <a:prstGeom prst="flowChartConnector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756289" y="3182993"/>
                <a:ext cx="155170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200" dirty="0">
                    <a:solidFill>
                      <a:srgbClr val="2C466B"/>
                    </a:solidFill>
                    <a:sym typeface="Wingdings" panose="05000000000000000000" pitchFamily="2" charset="2"/>
                  </a:rPr>
                  <a:t></a:t>
                </a:r>
                <a:endParaRPr lang="en-IN" sz="3200" dirty="0">
                  <a:solidFill>
                    <a:srgbClr val="2C466B"/>
                  </a:solidFill>
                </a:endParaRPr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756288" y="4562969"/>
              <a:ext cx="3206111" cy="584775"/>
              <a:chOff x="756288" y="4562969"/>
              <a:chExt cx="3206111" cy="584775"/>
            </a:xfrm>
          </p:grpSpPr>
          <p:sp>
            <p:nvSpPr>
              <p:cNvPr id="57" name="Pentagon 56"/>
              <p:cNvSpPr/>
              <p:nvPr/>
            </p:nvSpPr>
            <p:spPr>
              <a:xfrm>
                <a:off x="756288" y="4569200"/>
                <a:ext cx="3206111" cy="563418"/>
              </a:xfrm>
              <a:prstGeom prst="homePlate">
                <a:avLst/>
              </a:prstGeom>
              <a:solidFill>
                <a:srgbClr val="2C466B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8" name="Flowchart: Connector 57"/>
              <p:cNvSpPr/>
              <p:nvPr/>
            </p:nvSpPr>
            <p:spPr>
              <a:xfrm>
                <a:off x="831273" y="4661563"/>
                <a:ext cx="350981" cy="378691"/>
              </a:xfrm>
              <a:prstGeom prst="flowChartConnector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783934" y="4562969"/>
                <a:ext cx="155170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200" dirty="0">
                    <a:solidFill>
                      <a:srgbClr val="2C466B"/>
                    </a:solidFill>
                    <a:sym typeface="Wingdings" panose="05000000000000000000" pitchFamily="2" charset="2"/>
                  </a:rPr>
                  <a:t></a:t>
                </a:r>
                <a:endParaRPr lang="en-IN" sz="3200" dirty="0">
                  <a:solidFill>
                    <a:srgbClr val="2C466B"/>
                  </a:solidFill>
                </a:endParaRPr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737169" y="5253796"/>
              <a:ext cx="3206111" cy="584775"/>
              <a:chOff x="756288" y="4562969"/>
              <a:chExt cx="3206111" cy="584775"/>
            </a:xfrm>
          </p:grpSpPr>
          <p:sp>
            <p:nvSpPr>
              <p:cNvPr id="54" name="Pentagon 53"/>
              <p:cNvSpPr/>
              <p:nvPr/>
            </p:nvSpPr>
            <p:spPr>
              <a:xfrm>
                <a:off x="756288" y="4569200"/>
                <a:ext cx="3206111" cy="563418"/>
              </a:xfrm>
              <a:prstGeom prst="homePlate">
                <a:avLst/>
              </a:prstGeom>
              <a:solidFill>
                <a:srgbClr val="2C466B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5" name="Flowchart: Connector 54"/>
              <p:cNvSpPr/>
              <p:nvPr/>
            </p:nvSpPr>
            <p:spPr>
              <a:xfrm>
                <a:off x="831273" y="4661563"/>
                <a:ext cx="350981" cy="378691"/>
              </a:xfrm>
              <a:prstGeom prst="flowChartConnector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783934" y="4562969"/>
                <a:ext cx="155170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200" dirty="0">
                    <a:solidFill>
                      <a:srgbClr val="2C466B"/>
                    </a:solidFill>
                    <a:sym typeface="Wingdings" panose="05000000000000000000" pitchFamily="2" charset="2"/>
                  </a:rPr>
                  <a:t></a:t>
                </a:r>
                <a:endParaRPr lang="en-IN" sz="3200" dirty="0">
                  <a:solidFill>
                    <a:srgbClr val="2C466B"/>
                  </a:solidFill>
                </a:endParaRPr>
              </a:p>
            </p:txBody>
          </p:sp>
        </p:grpSp>
        <p:sp>
          <p:nvSpPr>
            <p:cNvPr id="49" name="TextBox 48"/>
            <p:cNvSpPr txBox="1"/>
            <p:nvPr/>
          </p:nvSpPr>
          <p:spPr>
            <a:xfrm>
              <a:off x="1229593" y="4570191"/>
              <a:ext cx="263219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600" dirty="0">
                  <a:solidFill>
                    <a:schemeClr val="bg1"/>
                  </a:solidFill>
                </a:rPr>
                <a:t>Not directly suitable for </a:t>
              </a:r>
            </a:p>
            <a:p>
              <a:pPr algn="just"/>
              <a:r>
                <a:rPr lang="en-IN" sz="1600" dirty="0">
                  <a:solidFill>
                    <a:schemeClr val="bg1"/>
                  </a:solidFill>
                </a:rPr>
                <a:t>images with handwritten text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229593" y="5246012"/>
              <a:ext cx="236487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600" dirty="0">
                  <a:solidFill>
                    <a:schemeClr val="bg1"/>
                  </a:solidFill>
                </a:rPr>
                <a:t>Training requires complex </a:t>
              </a:r>
            </a:p>
            <a:p>
              <a:r>
                <a:rPr lang="en-IN" sz="1600" dirty="0">
                  <a:solidFill>
                    <a:schemeClr val="bg1"/>
                  </a:solidFill>
                </a:rPr>
                <a:t>hardware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209583" y="3160645"/>
              <a:ext cx="238667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600" dirty="0">
                  <a:solidFill>
                    <a:schemeClr val="bg1"/>
                  </a:solidFill>
                </a:rPr>
                <a:t>Understands semantic </a:t>
              </a:r>
            </a:p>
            <a:p>
              <a:r>
                <a:rPr lang="en-IN" sz="1600" dirty="0">
                  <a:solidFill>
                    <a:schemeClr val="bg1"/>
                  </a:solidFill>
                </a:rPr>
                <a:t>structure of the document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314282" y="1320850"/>
              <a:ext cx="21210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dirty="0"/>
                <a:t>Donut Model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177484" y="3840946"/>
              <a:ext cx="238667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600" dirty="0">
                  <a:solidFill>
                    <a:schemeClr val="bg1"/>
                  </a:solidFill>
                </a:rPr>
                <a:t>Understands semantic </a:t>
              </a:r>
            </a:p>
            <a:p>
              <a:r>
                <a:rPr lang="en-IN" sz="1600" dirty="0">
                  <a:solidFill>
                    <a:schemeClr val="bg1"/>
                  </a:solidFill>
                </a:rPr>
                <a:t>structure of the document</a:t>
              </a: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8036532" y="1296745"/>
            <a:ext cx="3464595" cy="4574133"/>
            <a:chOff x="638527" y="1301826"/>
            <a:chExt cx="3464595" cy="4574133"/>
          </a:xfrm>
        </p:grpSpPr>
        <p:sp>
          <p:nvSpPr>
            <p:cNvPr id="67" name="Rectangle 66"/>
            <p:cNvSpPr/>
            <p:nvPr/>
          </p:nvSpPr>
          <p:spPr>
            <a:xfrm>
              <a:off x="638527" y="1330085"/>
              <a:ext cx="3464595" cy="454587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68" name="Group 67"/>
            <p:cNvGrpSpPr/>
            <p:nvPr/>
          </p:nvGrpSpPr>
          <p:grpSpPr>
            <a:xfrm>
              <a:off x="756289" y="3161145"/>
              <a:ext cx="3206111" cy="606623"/>
              <a:chOff x="756289" y="3161145"/>
              <a:chExt cx="3206111" cy="606623"/>
            </a:xfrm>
          </p:grpSpPr>
          <p:sp>
            <p:nvSpPr>
              <p:cNvPr id="86" name="Pentagon 85"/>
              <p:cNvSpPr/>
              <p:nvPr/>
            </p:nvSpPr>
            <p:spPr>
              <a:xfrm>
                <a:off x="756289" y="3161145"/>
                <a:ext cx="3206111" cy="563418"/>
              </a:xfrm>
              <a:prstGeom prst="homePlate">
                <a:avLst/>
              </a:prstGeom>
              <a:solidFill>
                <a:srgbClr val="2C466B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7" name="Flowchart: Connector 86"/>
              <p:cNvSpPr/>
              <p:nvPr/>
            </p:nvSpPr>
            <p:spPr>
              <a:xfrm>
                <a:off x="831274" y="3253508"/>
                <a:ext cx="350981" cy="378691"/>
              </a:xfrm>
              <a:prstGeom prst="flowChartConnector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756289" y="3182993"/>
                <a:ext cx="155170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200" dirty="0">
                    <a:solidFill>
                      <a:srgbClr val="2C466B"/>
                    </a:solidFill>
                    <a:sym typeface="Wingdings" panose="05000000000000000000" pitchFamily="2" charset="2"/>
                  </a:rPr>
                  <a:t></a:t>
                </a:r>
                <a:endParaRPr lang="en-IN" sz="3200" dirty="0">
                  <a:solidFill>
                    <a:srgbClr val="2C466B"/>
                  </a:solidFill>
                </a:endParaRPr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756289" y="3864587"/>
              <a:ext cx="3206111" cy="606623"/>
              <a:chOff x="756289" y="3161145"/>
              <a:chExt cx="3206111" cy="606623"/>
            </a:xfrm>
          </p:grpSpPr>
          <p:sp>
            <p:nvSpPr>
              <p:cNvPr id="83" name="Pentagon 82"/>
              <p:cNvSpPr/>
              <p:nvPr/>
            </p:nvSpPr>
            <p:spPr>
              <a:xfrm>
                <a:off x="756289" y="3161145"/>
                <a:ext cx="3206111" cy="563418"/>
              </a:xfrm>
              <a:prstGeom prst="homePlate">
                <a:avLst/>
              </a:prstGeom>
              <a:solidFill>
                <a:srgbClr val="2C466B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4" name="Flowchart: Connector 83"/>
              <p:cNvSpPr/>
              <p:nvPr/>
            </p:nvSpPr>
            <p:spPr>
              <a:xfrm>
                <a:off x="831274" y="3253508"/>
                <a:ext cx="350981" cy="378691"/>
              </a:xfrm>
              <a:prstGeom prst="flowChartConnector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756289" y="3182993"/>
                <a:ext cx="155170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200" dirty="0">
                    <a:solidFill>
                      <a:srgbClr val="2C466B"/>
                    </a:solidFill>
                    <a:sym typeface="Wingdings" panose="05000000000000000000" pitchFamily="2" charset="2"/>
                  </a:rPr>
                  <a:t></a:t>
                </a:r>
                <a:endParaRPr lang="en-IN" sz="3200" dirty="0">
                  <a:solidFill>
                    <a:srgbClr val="2C466B"/>
                  </a:solidFill>
                </a:endParaRPr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756288" y="4562969"/>
              <a:ext cx="3206111" cy="584775"/>
              <a:chOff x="756288" y="4562969"/>
              <a:chExt cx="3206111" cy="584775"/>
            </a:xfrm>
          </p:grpSpPr>
          <p:sp>
            <p:nvSpPr>
              <p:cNvPr id="80" name="Pentagon 79"/>
              <p:cNvSpPr/>
              <p:nvPr/>
            </p:nvSpPr>
            <p:spPr>
              <a:xfrm>
                <a:off x="756288" y="4569200"/>
                <a:ext cx="3206111" cy="563418"/>
              </a:xfrm>
              <a:prstGeom prst="homePlate">
                <a:avLst/>
              </a:prstGeom>
              <a:solidFill>
                <a:srgbClr val="2C466B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1" name="Flowchart: Connector 80"/>
              <p:cNvSpPr/>
              <p:nvPr/>
            </p:nvSpPr>
            <p:spPr>
              <a:xfrm>
                <a:off x="831273" y="4661563"/>
                <a:ext cx="350981" cy="378691"/>
              </a:xfrm>
              <a:prstGeom prst="flowChartConnector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783934" y="4562969"/>
                <a:ext cx="155170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200" dirty="0">
                    <a:solidFill>
                      <a:srgbClr val="2C466B"/>
                    </a:solidFill>
                    <a:sym typeface="Wingdings" panose="05000000000000000000" pitchFamily="2" charset="2"/>
                  </a:rPr>
                  <a:t></a:t>
                </a:r>
                <a:endParaRPr lang="en-IN" sz="3200" dirty="0">
                  <a:solidFill>
                    <a:srgbClr val="2C466B"/>
                  </a:solidFill>
                </a:endParaRPr>
              </a:p>
            </p:txBody>
          </p:sp>
        </p:grpSp>
        <p:grpSp>
          <p:nvGrpSpPr>
            <p:cNvPr id="71" name="Group 70"/>
            <p:cNvGrpSpPr/>
            <p:nvPr/>
          </p:nvGrpSpPr>
          <p:grpSpPr>
            <a:xfrm>
              <a:off x="737169" y="5253796"/>
              <a:ext cx="3206111" cy="584775"/>
              <a:chOff x="756288" y="4562969"/>
              <a:chExt cx="3206111" cy="584775"/>
            </a:xfrm>
          </p:grpSpPr>
          <p:sp>
            <p:nvSpPr>
              <p:cNvPr id="77" name="Pentagon 76"/>
              <p:cNvSpPr/>
              <p:nvPr/>
            </p:nvSpPr>
            <p:spPr>
              <a:xfrm>
                <a:off x="756288" y="4569200"/>
                <a:ext cx="3206111" cy="563418"/>
              </a:xfrm>
              <a:prstGeom prst="homePlate">
                <a:avLst/>
              </a:prstGeom>
              <a:solidFill>
                <a:srgbClr val="2C466B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8" name="Flowchart: Connector 77"/>
              <p:cNvSpPr/>
              <p:nvPr/>
            </p:nvSpPr>
            <p:spPr>
              <a:xfrm>
                <a:off x="831273" y="4661563"/>
                <a:ext cx="350981" cy="378691"/>
              </a:xfrm>
              <a:prstGeom prst="flowChartConnector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783934" y="4562969"/>
                <a:ext cx="155170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200" dirty="0">
                    <a:solidFill>
                      <a:srgbClr val="2C466B"/>
                    </a:solidFill>
                    <a:sym typeface="Wingdings" panose="05000000000000000000" pitchFamily="2" charset="2"/>
                  </a:rPr>
                  <a:t></a:t>
                </a:r>
                <a:endParaRPr lang="en-IN" sz="3200" dirty="0">
                  <a:solidFill>
                    <a:srgbClr val="2C466B"/>
                  </a:solidFill>
                </a:endParaRPr>
              </a:p>
            </p:txBody>
          </p:sp>
        </p:grpSp>
        <p:sp>
          <p:nvSpPr>
            <p:cNvPr id="72" name="TextBox 71"/>
            <p:cNvSpPr txBox="1"/>
            <p:nvPr/>
          </p:nvSpPr>
          <p:spPr>
            <a:xfrm>
              <a:off x="1229593" y="4570191"/>
              <a:ext cx="263219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600" dirty="0">
                  <a:solidFill>
                    <a:schemeClr val="bg1"/>
                  </a:solidFill>
                </a:rPr>
                <a:t>Not directly suitable for </a:t>
              </a:r>
            </a:p>
            <a:p>
              <a:pPr algn="just"/>
              <a:r>
                <a:rPr lang="en-IN" sz="1600" dirty="0">
                  <a:solidFill>
                    <a:schemeClr val="bg1"/>
                  </a:solidFill>
                </a:rPr>
                <a:t>images with handwritten text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229593" y="5246012"/>
              <a:ext cx="232320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600" dirty="0">
                  <a:solidFill>
                    <a:schemeClr val="bg1"/>
                  </a:solidFill>
                </a:rPr>
                <a:t>Training requires labelled </a:t>
              </a:r>
            </a:p>
            <a:p>
              <a:r>
                <a:rPr lang="en-IN" sz="1600" dirty="0">
                  <a:solidFill>
                    <a:schemeClr val="bg1"/>
                  </a:solidFill>
                </a:rPr>
                <a:t>key value pairs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209583" y="3160645"/>
              <a:ext cx="238667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600" dirty="0">
                  <a:solidFill>
                    <a:schemeClr val="bg1"/>
                  </a:solidFill>
                </a:rPr>
                <a:t>Understands semantic </a:t>
              </a:r>
            </a:p>
            <a:p>
              <a:r>
                <a:rPr lang="en-IN" sz="1600" dirty="0">
                  <a:solidFill>
                    <a:schemeClr val="bg1"/>
                  </a:solidFill>
                </a:rPr>
                <a:t>structure of the document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083130" y="1301826"/>
              <a:ext cx="257538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dirty="0"/>
                <a:t>Detection + OCR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177484" y="3840946"/>
              <a:ext cx="238667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600" dirty="0">
                  <a:solidFill>
                    <a:schemeClr val="bg1"/>
                  </a:solidFill>
                </a:rPr>
                <a:t>Understands semantic </a:t>
              </a:r>
            </a:p>
            <a:p>
              <a:r>
                <a:rPr lang="en-IN" sz="1600" dirty="0">
                  <a:solidFill>
                    <a:schemeClr val="bg1"/>
                  </a:solidFill>
                </a:rPr>
                <a:t>structure of the document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8467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561590"/>
            <a:ext cx="12192000" cy="2964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0845800" cy="503263"/>
          </a:xfrm>
        </p:spPr>
        <p:txBody>
          <a:bodyPr>
            <a:normAutofit/>
          </a:bodyPr>
          <a:lstStyle/>
          <a:p>
            <a:r>
              <a:rPr lang="en-IN" sz="3000" b="1"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544" y="954800"/>
            <a:ext cx="11139055" cy="5222163"/>
          </a:xfrm>
        </p:spPr>
        <p:txBody>
          <a:bodyPr>
            <a:normAutofit/>
          </a:bodyPr>
          <a:lstStyle/>
          <a:p>
            <a:r>
              <a:rPr lang="en-IN" sz="1800" dirty="0"/>
              <a:t>Problem Statement</a:t>
            </a:r>
            <a:endParaRPr lang="en-IN" sz="1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426720" y="6475178"/>
            <a:ext cx="1176528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18068" y="6561590"/>
            <a:ext cx="1523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DeHaDo</a:t>
            </a:r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-AI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31574" y="6571295"/>
            <a:ext cx="18934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NCVPRIPG 2025, IIT Jammu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7549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Isosceles Triangle 9"/>
          <p:cNvSpPr/>
          <p:nvPr/>
        </p:nvSpPr>
        <p:spPr>
          <a:xfrm rot="5400000">
            <a:off x="-726" y="6171660"/>
            <a:ext cx="428171" cy="426720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18" y="6052414"/>
            <a:ext cx="432000" cy="432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7925" y="6218234"/>
            <a:ext cx="258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83465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561590"/>
            <a:ext cx="12192000" cy="2964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0845800" cy="503263"/>
          </a:xfrm>
        </p:spPr>
        <p:txBody>
          <a:bodyPr>
            <a:normAutofit/>
          </a:bodyPr>
          <a:lstStyle/>
          <a:p>
            <a:r>
              <a:rPr lang="en-IN" sz="3000" b="1" dirty="0"/>
              <a:t>Model Architecture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426720" y="6475178"/>
            <a:ext cx="1176528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18068" y="6561590"/>
            <a:ext cx="1523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DeHaDo</a:t>
            </a:r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-AI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31574" y="6571295"/>
            <a:ext cx="18934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NCVPRIPG 2025, IIT Jammu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7549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Isosceles Triangle 9"/>
          <p:cNvSpPr/>
          <p:nvPr/>
        </p:nvSpPr>
        <p:spPr>
          <a:xfrm rot="5400000">
            <a:off x="-726" y="6171660"/>
            <a:ext cx="428171" cy="426720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18" y="6052414"/>
            <a:ext cx="432000" cy="432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7925" y="6218234"/>
            <a:ext cx="258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1</a:t>
            </a:r>
          </a:p>
        </p:txBody>
      </p:sp>
      <p:sp>
        <p:nvSpPr>
          <p:cNvPr id="15" name="Rectangle: Rounded Corners 955755312">
            <a:extLst>
              <a:ext uri="{FF2B5EF4-FFF2-40B4-BE49-F238E27FC236}">
                <a16:creationId xmlns:a16="http://schemas.microsoft.com/office/drawing/2014/main" id="{6DAEFD3C-0155-2402-A87F-BC07F5FFF7CE}"/>
              </a:ext>
            </a:extLst>
          </p:cNvPr>
          <p:cNvSpPr/>
          <p:nvPr/>
        </p:nvSpPr>
        <p:spPr>
          <a:xfrm>
            <a:off x="1782382" y="2722198"/>
            <a:ext cx="1220580" cy="1027473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600" kern="1200" dirty="0">
                <a:solidFill>
                  <a:srgbClr val="FFFFFF"/>
                </a:solidFill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Detection Model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7" name="Rectangle: Rounded Corners 337800328">
            <a:extLst>
              <a:ext uri="{FF2B5EF4-FFF2-40B4-BE49-F238E27FC236}">
                <a16:creationId xmlns:a16="http://schemas.microsoft.com/office/drawing/2014/main" id="{47FFFF1B-FB6A-6132-DA82-C5F4ADFE6EA1}"/>
              </a:ext>
            </a:extLst>
          </p:cNvPr>
          <p:cNvSpPr/>
          <p:nvPr/>
        </p:nvSpPr>
        <p:spPr>
          <a:xfrm>
            <a:off x="3877799" y="2691940"/>
            <a:ext cx="1220582" cy="1027471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  <a:r>
              <a:rPr lang="en-US" sz="1600" dirty="0">
                <a:solidFill>
                  <a:srgbClr val="FFFFFF"/>
                </a:solidFill>
                <a:ea typeface="Arial" panose="020B0604020202020204" pitchFamily="34" charset="0"/>
                <a:cs typeface="Times New Roman" panose="02020603050405020304" pitchFamily="18" charset="0"/>
              </a:rPr>
              <a:t>Field Matching</a:t>
            </a:r>
            <a:endParaRPr lang="en-IN" sz="1600" dirty="0">
              <a:solidFill>
                <a:srgbClr val="FFFFFF"/>
              </a:solidFill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ctangle: Rounded Corners 1452009881">
            <a:extLst>
              <a:ext uri="{FF2B5EF4-FFF2-40B4-BE49-F238E27FC236}">
                <a16:creationId xmlns:a16="http://schemas.microsoft.com/office/drawing/2014/main" id="{95CFF6B9-9BD3-9470-8619-F307E94B5EBF}"/>
              </a:ext>
            </a:extLst>
          </p:cNvPr>
          <p:cNvSpPr/>
          <p:nvPr/>
        </p:nvSpPr>
        <p:spPr>
          <a:xfrm>
            <a:off x="5994268" y="2664899"/>
            <a:ext cx="1252822" cy="1027468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  <a:r>
              <a:rPr lang="en-US" sz="1600" dirty="0">
                <a:solidFill>
                  <a:srgbClr val="FFFFFF"/>
                </a:solidFill>
                <a:ea typeface="Arial" panose="020B0604020202020204" pitchFamily="34" charset="0"/>
                <a:cs typeface="Times New Roman" panose="02020603050405020304" pitchFamily="18" charset="0"/>
              </a:rPr>
              <a:t>OCR Model</a:t>
            </a:r>
            <a:endParaRPr lang="en-IN" sz="1600" dirty="0">
              <a:solidFill>
                <a:srgbClr val="FFFFFF"/>
              </a:solidFill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643149211">
            <a:extLst>
              <a:ext uri="{FF2B5EF4-FFF2-40B4-BE49-F238E27FC236}">
                <a16:creationId xmlns:a16="http://schemas.microsoft.com/office/drawing/2014/main" id="{B19715AB-4AA8-8F4A-1BA0-23611D4095E1}"/>
              </a:ext>
            </a:extLst>
          </p:cNvPr>
          <p:cNvSpPr/>
          <p:nvPr/>
        </p:nvSpPr>
        <p:spPr>
          <a:xfrm>
            <a:off x="8136595" y="2634972"/>
            <a:ext cx="1252822" cy="1012013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  <a:r>
              <a:rPr lang="en-US" sz="1600" dirty="0">
                <a:solidFill>
                  <a:srgbClr val="FFFFFF"/>
                </a:solidFill>
                <a:ea typeface="Arial" panose="020B0604020202020204" pitchFamily="34" charset="0"/>
                <a:cs typeface="Times New Roman" panose="02020603050405020304" pitchFamily="18" charset="0"/>
              </a:rPr>
              <a:t>Post Processing</a:t>
            </a:r>
            <a:endParaRPr lang="en-IN" sz="1600" dirty="0">
              <a:solidFill>
                <a:srgbClr val="FFFFFF"/>
              </a:solidFill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AC668D8-5355-96EF-6C76-040115E13ABA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992996" y="3235934"/>
            <a:ext cx="789386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779C335-4635-9AC3-C1D9-80B4E75AF8F3}"/>
              </a:ext>
            </a:extLst>
          </p:cNvPr>
          <p:cNvCxnSpPr>
            <a:cxnSpLocks/>
          </p:cNvCxnSpPr>
          <p:nvPr/>
        </p:nvCxnSpPr>
        <p:spPr>
          <a:xfrm flipH="1" flipV="1">
            <a:off x="4488089" y="3701601"/>
            <a:ext cx="1" cy="576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13">
            <a:extLst>
              <a:ext uri="{FF2B5EF4-FFF2-40B4-BE49-F238E27FC236}">
                <a16:creationId xmlns:a16="http://schemas.microsoft.com/office/drawing/2014/main" id="{C9838C68-051B-AF68-C866-16F0D59F4032}"/>
              </a:ext>
            </a:extLst>
          </p:cNvPr>
          <p:cNvSpPr txBox="1"/>
          <p:nvPr/>
        </p:nvSpPr>
        <p:spPr>
          <a:xfrm>
            <a:off x="3841418" y="4202387"/>
            <a:ext cx="1250736" cy="67856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600" kern="12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Reference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600" kern="12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Coordinates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5DC1B61-9240-CB09-EE55-5BD0B0B06BAD}"/>
              </a:ext>
            </a:extLst>
          </p:cNvPr>
          <p:cNvCxnSpPr>
            <a:cxnSpLocks/>
          </p:cNvCxnSpPr>
          <p:nvPr/>
        </p:nvCxnSpPr>
        <p:spPr>
          <a:xfrm>
            <a:off x="9389417" y="3140978"/>
            <a:ext cx="6344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1513A41-752C-419A-7662-5071D3FE38C3}"/>
              </a:ext>
            </a:extLst>
          </p:cNvPr>
          <p:cNvCxnSpPr>
            <a:cxnSpLocks/>
          </p:cNvCxnSpPr>
          <p:nvPr/>
        </p:nvCxnSpPr>
        <p:spPr>
          <a:xfrm>
            <a:off x="2989013" y="3205676"/>
            <a:ext cx="9027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E8D2C6C-E662-85B3-B077-6AD7F17FE6DC}"/>
              </a:ext>
            </a:extLst>
          </p:cNvPr>
          <p:cNvCxnSpPr>
            <a:cxnSpLocks/>
          </p:cNvCxnSpPr>
          <p:nvPr/>
        </p:nvCxnSpPr>
        <p:spPr>
          <a:xfrm>
            <a:off x="3440381" y="1978628"/>
            <a:ext cx="0" cy="1227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6">
            <a:extLst>
              <a:ext uri="{FF2B5EF4-FFF2-40B4-BE49-F238E27FC236}">
                <a16:creationId xmlns:a16="http://schemas.microsoft.com/office/drawing/2014/main" id="{25C0153D-E433-759E-52D5-C249B4D114BA}"/>
              </a:ext>
            </a:extLst>
          </p:cNvPr>
          <p:cNvSpPr txBox="1"/>
          <p:nvPr/>
        </p:nvSpPr>
        <p:spPr>
          <a:xfrm>
            <a:off x="2798045" y="1126935"/>
            <a:ext cx="1407736" cy="60591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600" kern="12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Bounding Box 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600" kern="12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Coordinates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8520EFC-0FF4-8884-4695-9A04F2120B07}"/>
              </a:ext>
            </a:extLst>
          </p:cNvPr>
          <p:cNvSpPr txBox="1"/>
          <p:nvPr/>
        </p:nvSpPr>
        <p:spPr>
          <a:xfrm>
            <a:off x="5003206" y="1125333"/>
            <a:ext cx="1250736" cy="6443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600" kern="12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Fields +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600" kern="12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Coordinates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25C9F8EB-9741-4C4B-A978-B63D06ADCA24}"/>
              </a:ext>
            </a:extLst>
          </p:cNvPr>
          <p:cNvSpPr txBox="1"/>
          <p:nvPr/>
        </p:nvSpPr>
        <p:spPr>
          <a:xfrm>
            <a:off x="7253437" y="1129788"/>
            <a:ext cx="896390" cy="6249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600" kern="12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Fields +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600" kern="12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Text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698201A-64DE-3299-5C9A-7C1926A7FAD2}"/>
              </a:ext>
            </a:extLst>
          </p:cNvPr>
          <p:cNvCxnSpPr>
            <a:cxnSpLocks/>
          </p:cNvCxnSpPr>
          <p:nvPr/>
        </p:nvCxnSpPr>
        <p:spPr>
          <a:xfrm>
            <a:off x="5104760" y="3205674"/>
            <a:ext cx="9027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4197C54-B347-679C-40EB-472BA244AC8A}"/>
              </a:ext>
            </a:extLst>
          </p:cNvPr>
          <p:cNvCxnSpPr>
            <a:cxnSpLocks/>
          </p:cNvCxnSpPr>
          <p:nvPr/>
        </p:nvCxnSpPr>
        <p:spPr>
          <a:xfrm>
            <a:off x="5556128" y="1978626"/>
            <a:ext cx="0" cy="1227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CD58BD1C-B577-4843-C1E4-69AB2EA79106}"/>
              </a:ext>
            </a:extLst>
          </p:cNvPr>
          <p:cNvSpPr/>
          <p:nvPr/>
        </p:nvSpPr>
        <p:spPr>
          <a:xfrm>
            <a:off x="5504872" y="1876516"/>
            <a:ext cx="123065" cy="13834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9115D69-AF70-47B5-FCE0-655CFF435418}"/>
              </a:ext>
            </a:extLst>
          </p:cNvPr>
          <p:cNvCxnSpPr>
            <a:cxnSpLocks/>
          </p:cNvCxnSpPr>
          <p:nvPr/>
        </p:nvCxnSpPr>
        <p:spPr>
          <a:xfrm>
            <a:off x="7247090" y="3178631"/>
            <a:ext cx="9027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2D33966-1DE9-9893-CE37-C889084D1EE9}"/>
              </a:ext>
            </a:extLst>
          </p:cNvPr>
          <p:cNvCxnSpPr>
            <a:cxnSpLocks/>
          </p:cNvCxnSpPr>
          <p:nvPr/>
        </p:nvCxnSpPr>
        <p:spPr>
          <a:xfrm>
            <a:off x="7698458" y="1951583"/>
            <a:ext cx="0" cy="1227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49">
            <a:extLst>
              <a:ext uri="{FF2B5EF4-FFF2-40B4-BE49-F238E27FC236}">
                <a16:creationId xmlns:a16="http://schemas.microsoft.com/office/drawing/2014/main" id="{2A88F6FB-B647-6B0E-45DC-FB2C0A702D35}"/>
              </a:ext>
            </a:extLst>
          </p:cNvPr>
          <p:cNvSpPr txBox="1"/>
          <p:nvPr/>
        </p:nvSpPr>
        <p:spPr>
          <a:xfrm>
            <a:off x="10025806" y="2790862"/>
            <a:ext cx="1152501" cy="6238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600" kern="12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Form Field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600" kern="12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Text</a:t>
            </a:r>
            <a:endParaRPr lang="en-IN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D58BD1C-B577-4843-C1E4-69AB2EA79106}"/>
              </a:ext>
            </a:extLst>
          </p:cNvPr>
          <p:cNvSpPr/>
          <p:nvPr/>
        </p:nvSpPr>
        <p:spPr>
          <a:xfrm>
            <a:off x="3378848" y="1847376"/>
            <a:ext cx="123065" cy="13834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D58BD1C-B577-4843-C1E4-69AB2EA79106}"/>
              </a:ext>
            </a:extLst>
          </p:cNvPr>
          <p:cNvSpPr/>
          <p:nvPr/>
        </p:nvSpPr>
        <p:spPr>
          <a:xfrm>
            <a:off x="7636925" y="1841147"/>
            <a:ext cx="123065" cy="13834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734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561590"/>
            <a:ext cx="12192000" cy="2964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0845800" cy="503263"/>
          </a:xfrm>
        </p:spPr>
        <p:txBody>
          <a:bodyPr>
            <a:normAutofit/>
          </a:bodyPr>
          <a:lstStyle/>
          <a:p>
            <a:r>
              <a:rPr lang="en-IN" sz="3000" b="1" dirty="0"/>
              <a:t>Field Detection Model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426720" y="6475178"/>
            <a:ext cx="1176528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18068" y="6561590"/>
            <a:ext cx="1523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DeHaDo</a:t>
            </a:r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-AI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31574" y="6571295"/>
            <a:ext cx="18934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NCVPRIPG 2025, IIT Jammu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7549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Isosceles Triangle 9"/>
          <p:cNvSpPr/>
          <p:nvPr/>
        </p:nvSpPr>
        <p:spPr>
          <a:xfrm rot="5400000">
            <a:off x="-726" y="6171660"/>
            <a:ext cx="428171" cy="426720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18" y="6052414"/>
            <a:ext cx="432000" cy="432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7925" y="6218234"/>
            <a:ext cx="258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1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5" t="2829" r="4541" b="24847"/>
          <a:stretch/>
        </p:blipFill>
        <p:spPr>
          <a:xfrm>
            <a:off x="674255" y="1121050"/>
            <a:ext cx="3823854" cy="418407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0" t="2828" r="4022" b="23906"/>
          <a:stretch/>
        </p:blipFill>
        <p:spPr>
          <a:xfrm>
            <a:off x="7749309" y="1110231"/>
            <a:ext cx="3842327" cy="4194891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48001" y="2898258"/>
            <a:ext cx="1052945" cy="618836"/>
          </a:xfrm>
          <a:prstGeom prst="rect">
            <a:avLst/>
          </a:prstGeom>
          <a:solidFill>
            <a:srgbClr val="2C466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YOLO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4812145" y="3207676"/>
            <a:ext cx="711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6830291" y="3214958"/>
            <a:ext cx="711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0815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561590"/>
            <a:ext cx="12192000" cy="2964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0845800" cy="503263"/>
          </a:xfrm>
        </p:spPr>
        <p:txBody>
          <a:bodyPr>
            <a:normAutofit/>
          </a:bodyPr>
          <a:lstStyle/>
          <a:p>
            <a:r>
              <a:rPr lang="en-IN" sz="3000" b="1" dirty="0"/>
              <a:t>Field Detection Model: YOLO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426720" y="6475178"/>
            <a:ext cx="1176528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18068" y="6561590"/>
            <a:ext cx="1523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DeHaDo</a:t>
            </a:r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-AI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31574" y="6571295"/>
            <a:ext cx="18934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NCVPRIPG 2025, IIT Jammu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7549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Isosceles Triangle 9"/>
          <p:cNvSpPr/>
          <p:nvPr/>
        </p:nvSpPr>
        <p:spPr>
          <a:xfrm rot="5400000">
            <a:off x="-726" y="6171660"/>
            <a:ext cx="428171" cy="426720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18" y="6052414"/>
            <a:ext cx="432000" cy="432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7925" y="6218234"/>
            <a:ext cx="258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1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9" b="24847"/>
          <a:stretch/>
        </p:blipFill>
        <p:spPr>
          <a:xfrm>
            <a:off x="517234" y="1121050"/>
            <a:ext cx="4170255" cy="418407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8" b="23906"/>
          <a:stretch/>
        </p:blipFill>
        <p:spPr>
          <a:xfrm>
            <a:off x="7630390" y="1110231"/>
            <a:ext cx="4127239" cy="4194891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48001" y="2898258"/>
            <a:ext cx="1052945" cy="6188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YOLO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4812145" y="3207676"/>
            <a:ext cx="711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6830291" y="3214958"/>
            <a:ext cx="711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9253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561590"/>
            <a:ext cx="12192000" cy="2964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0845800" cy="503263"/>
          </a:xfrm>
        </p:spPr>
        <p:txBody>
          <a:bodyPr>
            <a:normAutofit/>
          </a:bodyPr>
          <a:lstStyle/>
          <a:p>
            <a:r>
              <a:rPr lang="en-IN" sz="3000" b="1" dirty="0"/>
              <a:t>Field Detection Model: YOLO Results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426720" y="6475178"/>
            <a:ext cx="1176528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18068" y="6561590"/>
            <a:ext cx="1523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DeHaDo</a:t>
            </a:r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-AI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31574" y="6571295"/>
            <a:ext cx="18934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NCVPRIPG 2025, IIT Jammu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7549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Isosceles Triangle 9"/>
          <p:cNvSpPr/>
          <p:nvPr/>
        </p:nvSpPr>
        <p:spPr>
          <a:xfrm rot="5400000">
            <a:off x="-726" y="6171660"/>
            <a:ext cx="428171" cy="426720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18" y="6052414"/>
            <a:ext cx="432000" cy="432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7925" y="6218234"/>
            <a:ext cx="258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1BD5A4-6CB2-FE99-30D8-5F9CAFD604BF}"/>
              </a:ext>
            </a:extLst>
          </p:cNvPr>
          <p:cNvGrpSpPr/>
          <p:nvPr/>
        </p:nvGrpSpPr>
        <p:grpSpPr>
          <a:xfrm>
            <a:off x="7452827" y="1058024"/>
            <a:ext cx="2778747" cy="2082957"/>
            <a:chOff x="8194052" y="2197203"/>
            <a:chExt cx="2778747" cy="2082957"/>
          </a:xfrm>
        </p:grpSpPr>
        <p:sp>
          <p:nvSpPr>
            <p:cNvPr id="3" name="Rectangle 2"/>
            <p:cNvSpPr/>
            <p:nvPr/>
          </p:nvSpPr>
          <p:spPr>
            <a:xfrm>
              <a:off x="8876145" y="2810908"/>
              <a:ext cx="997527" cy="63730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20382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9975272" y="2810908"/>
              <a:ext cx="997527" cy="63730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209</a:t>
              </a:r>
              <a:endParaRPr lang="en-IN" dirty="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876144" y="3525393"/>
              <a:ext cx="997527" cy="63730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254</a:t>
              </a:r>
              <a:endParaRPr lang="en-IN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9975272" y="3525915"/>
              <a:ext cx="997527" cy="63730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NA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9489767" y="2197203"/>
              <a:ext cx="7777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Actual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 rot="16200000">
              <a:off x="7807792" y="3263550"/>
              <a:ext cx="11418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Prediction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DFFC97F-664C-0B97-927F-A27E6C43E732}"/>
                </a:ext>
              </a:extLst>
            </p:cNvPr>
            <p:cNvSpPr txBox="1"/>
            <p:nvPr/>
          </p:nvSpPr>
          <p:spPr>
            <a:xfrm rot="16200000">
              <a:off x="8307881" y="3711895"/>
              <a:ext cx="8287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Negative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01D0678-58F3-64BD-7B91-6312C39E2EEF}"/>
                </a:ext>
              </a:extLst>
            </p:cNvPr>
            <p:cNvSpPr txBox="1"/>
            <p:nvPr/>
          </p:nvSpPr>
          <p:spPr>
            <a:xfrm rot="16200000">
              <a:off x="8335676" y="2965621"/>
              <a:ext cx="7532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Positive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3AFC102-3840-5C30-29AB-E8FB837B12DF}"/>
                </a:ext>
              </a:extLst>
            </p:cNvPr>
            <p:cNvSpPr txBox="1"/>
            <p:nvPr/>
          </p:nvSpPr>
          <p:spPr>
            <a:xfrm>
              <a:off x="8998297" y="2517220"/>
              <a:ext cx="7532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Positive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A7F922-F784-34F1-AE41-A1B86A60D549}"/>
                </a:ext>
              </a:extLst>
            </p:cNvPr>
            <p:cNvSpPr txBox="1"/>
            <p:nvPr/>
          </p:nvSpPr>
          <p:spPr>
            <a:xfrm>
              <a:off x="10005794" y="2517220"/>
              <a:ext cx="8287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dirty="0"/>
                <a:t>Negative</a:t>
              </a:r>
            </a:p>
          </p:txBody>
        </p:sp>
      </p:grp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FE2E1160-8E2D-6C23-22CF-039A4EE90B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7626531"/>
              </p:ext>
            </p:extLst>
          </p:nvPr>
        </p:nvGraphicFramePr>
        <p:xfrm>
          <a:off x="1049290" y="1125332"/>
          <a:ext cx="5456429" cy="47867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FA5D52F2-7B54-9E48-2C75-24D92CEEBBFB}"/>
              </a:ext>
            </a:extLst>
          </p:cNvPr>
          <p:cNvSpPr txBox="1"/>
          <p:nvPr/>
        </p:nvSpPr>
        <p:spPr>
          <a:xfrm>
            <a:off x="7383742" y="3397925"/>
            <a:ext cx="3295898" cy="2248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/>
              <a:t>📦 mAP@0.5  : 92.6%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🎯 Precision    : 98.9%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🔍 Recall          : 98.7%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⚖️ F1 Score     : 98.8%</a:t>
            </a:r>
          </a:p>
        </p:txBody>
      </p:sp>
    </p:spTree>
    <p:extLst>
      <p:ext uri="{BB962C8B-B14F-4D97-AF65-F5344CB8AC3E}">
        <p14:creationId xmlns:p14="http://schemas.microsoft.com/office/powerpoint/2010/main" val="557157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3" grpId="0">
        <p:bldAsOne/>
      </p:bldGraphic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561590"/>
            <a:ext cx="12192000" cy="2964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0845800" cy="503263"/>
          </a:xfrm>
        </p:spPr>
        <p:txBody>
          <a:bodyPr>
            <a:normAutofit/>
          </a:bodyPr>
          <a:lstStyle/>
          <a:p>
            <a:r>
              <a:rPr lang="en-IN" sz="3000" b="1" dirty="0"/>
              <a:t>Field Matching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426720" y="6475178"/>
            <a:ext cx="1176528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18068" y="6561590"/>
            <a:ext cx="1523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DeHaDo</a:t>
            </a:r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-AI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31574" y="6571295"/>
            <a:ext cx="18934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NCVPRIPG 2025, IIT Jammu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7549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Isosceles Triangle 9"/>
          <p:cNvSpPr/>
          <p:nvPr/>
        </p:nvSpPr>
        <p:spPr>
          <a:xfrm rot="5400000">
            <a:off x="-726" y="6171660"/>
            <a:ext cx="428171" cy="426720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18" y="6052414"/>
            <a:ext cx="432000" cy="432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7925" y="6218234"/>
            <a:ext cx="258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A5317A-2FA1-2D4B-2387-4AB40B17E0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5" b="22128"/>
          <a:stretch>
            <a:fillRect/>
          </a:stretch>
        </p:blipFill>
        <p:spPr>
          <a:xfrm>
            <a:off x="508000" y="827101"/>
            <a:ext cx="4943548" cy="52626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CE822E9-D06D-E49B-B6F1-5F19BFFA8C42}"/>
              </a:ext>
            </a:extLst>
          </p:cNvPr>
          <p:cNvSpPr/>
          <p:nvPr/>
        </p:nvSpPr>
        <p:spPr>
          <a:xfrm>
            <a:off x="739302" y="1322961"/>
            <a:ext cx="4426085" cy="4513627"/>
          </a:xfrm>
          <a:custGeom>
            <a:avLst/>
            <a:gdLst>
              <a:gd name="connsiteX0" fmla="*/ 0 w 4396902"/>
              <a:gd name="connsiteY0" fmla="*/ 0 h 4533082"/>
              <a:gd name="connsiteX1" fmla="*/ 4396902 w 4396902"/>
              <a:gd name="connsiteY1" fmla="*/ 0 h 4533082"/>
              <a:gd name="connsiteX2" fmla="*/ 4396902 w 4396902"/>
              <a:gd name="connsiteY2" fmla="*/ 4533082 h 4533082"/>
              <a:gd name="connsiteX3" fmla="*/ 0 w 4396902"/>
              <a:gd name="connsiteY3" fmla="*/ 4533082 h 4533082"/>
              <a:gd name="connsiteX4" fmla="*/ 0 w 4396902"/>
              <a:gd name="connsiteY4" fmla="*/ 0 h 4533082"/>
              <a:gd name="connsiteX0" fmla="*/ 0 w 4426085"/>
              <a:gd name="connsiteY0" fmla="*/ 0 h 4533082"/>
              <a:gd name="connsiteX1" fmla="*/ 4396902 w 4426085"/>
              <a:gd name="connsiteY1" fmla="*/ 0 h 4533082"/>
              <a:gd name="connsiteX2" fmla="*/ 4426085 w 4426085"/>
              <a:gd name="connsiteY2" fmla="*/ 4513627 h 4533082"/>
              <a:gd name="connsiteX3" fmla="*/ 0 w 4426085"/>
              <a:gd name="connsiteY3" fmla="*/ 4533082 h 4533082"/>
              <a:gd name="connsiteX4" fmla="*/ 0 w 4426085"/>
              <a:gd name="connsiteY4" fmla="*/ 0 h 4533082"/>
              <a:gd name="connsiteX0" fmla="*/ 0 w 4426085"/>
              <a:gd name="connsiteY0" fmla="*/ 0 h 4513627"/>
              <a:gd name="connsiteX1" fmla="*/ 4396902 w 4426085"/>
              <a:gd name="connsiteY1" fmla="*/ 0 h 4513627"/>
              <a:gd name="connsiteX2" fmla="*/ 4426085 w 4426085"/>
              <a:gd name="connsiteY2" fmla="*/ 4513627 h 4513627"/>
              <a:gd name="connsiteX3" fmla="*/ 29183 w 4426085"/>
              <a:gd name="connsiteY3" fmla="*/ 4503899 h 4513627"/>
              <a:gd name="connsiteX4" fmla="*/ 0 w 4426085"/>
              <a:gd name="connsiteY4" fmla="*/ 0 h 4513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26085" h="4513627">
                <a:moveTo>
                  <a:pt x="0" y="0"/>
                </a:moveTo>
                <a:lnTo>
                  <a:pt x="4396902" y="0"/>
                </a:lnTo>
                <a:lnTo>
                  <a:pt x="4426085" y="4513627"/>
                </a:lnTo>
                <a:lnTo>
                  <a:pt x="29183" y="4503899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43A088-93D7-1502-128B-DF9F441EA95C}"/>
              </a:ext>
            </a:extLst>
          </p:cNvPr>
          <p:cNvSpPr/>
          <p:nvPr/>
        </p:nvSpPr>
        <p:spPr>
          <a:xfrm>
            <a:off x="2295728" y="1478604"/>
            <a:ext cx="1274323" cy="22373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281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561590"/>
            <a:ext cx="12192000" cy="2964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0845800" cy="503263"/>
          </a:xfrm>
        </p:spPr>
        <p:txBody>
          <a:bodyPr>
            <a:normAutofit/>
          </a:bodyPr>
          <a:lstStyle/>
          <a:p>
            <a:r>
              <a:rPr lang="en-IN" sz="3000" b="1" dirty="0"/>
              <a:t>OCR Model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426720" y="6475178"/>
            <a:ext cx="1176528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18068" y="6561590"/>
            <a:ext cx="1523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DeHaDo</a:t>
            </a:r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-AI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31574" y="6571295"/>
            <a:ext cx="18934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NCVPRIPG 2025, IIT Jammu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7549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Isosceles Triangle 9"/>
          <p:cNvSpPr/>
          <p:nvPr/>
        </p:nvSpPr>
        <p:spPr>
          <a:xfrm rot="5400000">
            <a:off x="-726" y="6171660"/>
            <a:ext cx="428171" cy="426720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18" y="6052414"/>
            <a:ext cx="432000" cy="432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7925" y="6218234"/>
            <a:ext cx="258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67707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561590"/>
            <a:ext cx="12192000" cy="2964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0845800" cy="503263"/>
          </a:xfrm>
        </p:spPr>
        <p:txBody>
          <a:bodyPr>
            <a:normAutofit/>
          </a:bodyPr>
          <a:lstStyle/>
          <a:p>
            <a:r>
              <a:rPr lang="en-IN" sz="3000" b="1" dirty="0"/>
              <a:t>OCR Results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426720" y="6475178"/>
            <a:ext cx="1176528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18068" y="6561590"/>
            <a:ext cx="1523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DeHaDo</a:t>
            </a:r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-AI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31574" y="6571295"/>
            <a:ext cx="18934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NCVPRIPG 2025, IIT Jammu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7549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Isosceles Triangle 9"/>
          <p:cNvSpPr/>
          <p:nvPr/>
        </p:nvSpPr>
        <p:spPr>
          <a:xfrm rot="5400000">
            <a:off x="-726" y="6171660"/>
            <a:ext cx="428171" cy="426720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18" y="6052414"/>
            <a:ext cx="432000" cy="432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7925" y="6218234"/>
            <a:ext cx="258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76147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561590"/>
            <a:ext cx="12192000" cy="2964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0845800" cy="503263"/>
          </a:xfrm>
        </p:spPr>
        <p:txBody>
          <a:bodyPr>
            <a:normAutofit/>
          </a:bodyPr>
          <a:lstStyle/>
          <a:p>
            <a:r>
              <a:rPr lang="en-IN" sz="3000" b="1" dirty="0"/>
              <a:t>Layout Aware Error Correction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426720" y="6475178"/>
            <a:ext cx="1176528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18068" y="6561590"/>
            <a:ext cx="1523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DeHaDo</a:t>
            </a:r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-AI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31574" y="6571295"/>
            <a:ext cx="18934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NCVPRIPG 2025, IIT Jammu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7549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Isosceles Triangle 9"/>
          <p:cNvSpPr/>
          <p:nvPr/>
        </p:nvSpPr>
        <p:spPr>
          <a:xfrm rot="5400000">
            <a:off x="-726" y="6171660"/>
            <a:ext cx="428171" cy="426720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18" y="6052414"/>
            <a:ext cx="432000" cy="432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7925" y="6218234"/>
            <a:ext cx="258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11832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561590"/>
            <a:ext cx="12192000" cy="2964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0845800" cy="503263"/>
          </a:xfrm>
        </p:spPr>
        <p:txBody>
          <a:bodyPr>
            <a:normAutofit/>
          </a:bodyPr>
          <a:lstStyle/>
          <a:p>
            <a:r>
              <a:rPr lang="en-IN" sz="3000" b="1" dirty="0"/>
              <a:t>Benchmarks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544" y="954800"/>
            <a:ext cx="11139055" cy="5222163"/>
          </a:xfrm>
        </p:spPr>
        <p:txBody>
          <a:bodyPr>
            <a:normAutofit/>
          </a:bodyPr>
          <a:lstStyle/>
          <a:p>
            <a:r>
              <a:rPr lang="en-IN" sz="1800" dirty="0"/>
              <a:t>Problem Statement</a:t>
            </a:r>
            <a:endParaRPr lang="en-IN" sz="1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426720" y="6475178"/>
            <a:ext cx="1176528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18068" y="6561590"/>
            <a:ext cx="1523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DeHaDo</a:t>
            </a:r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-AI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31574" y="6571295"/>
            <a:ext cx="18934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NCVPRIPG 2025, IIT Jammu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7549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Isosceles Triangle 9"/>
          <p:cNvSpPr/>
          <p:nvPr/>
        </p:nvSpPr>
        <p:spPr>
          <a:xfrm rot="5400000">
            <a:off x="-726" y="6171660"/>
            <a:ext cx="428171" cy="426720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18" y="6052414"/>
            <a:ext cx="432000" cy="432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7925" y="6218234"/>
            <a:ext cx="258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90430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561590"/>
            <a:ext cx="12192000" cy="2964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0845800" cy="503263"/>
          </a:xfrm>
        </p:spPr>
        <p:txBody>
          <a:bodyPr>
            <a:normAutofit/>
          </a:bodyPr>
          <a:lstStyle/>
          <a:p>
            <a:r>
              <a:rPr lang="en-IN" sz="3000" b="1" dirty="0"/>
              <a:t>Final Results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426720" y="6475178"/>
            <a:ext cx="1176528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18068" y="6561590"/>
            <a:ext cx="1523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DeHaDo</a:t>
            </a:r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-AI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31574" y="6571295"/>
            <a:ext cx="18934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NCVPRIPG 2025, IIT Jammu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7549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Isosceles Triangle 9"/>
          <p:cNvSpPr/>
          <p:nvPr/>
        </p:nvSpPr>
        <p:spPr>
          <a:xfrm rot="5400000">
            <a:off x="-726" y="6171660"/>
            <a:ext cx="428171" cy="426720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18" y="6052414"/>
            <a:ext cx="432000" cy="432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7925" y="6218234"/>
            <a:ext cx="258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1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9042CB20-ED86-6031-CCD0-AC67A94355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7312530"/>
              </p:ext>
            </p:extLst>
          </p:nvPr>
        </p:nvGraphicFramePr>
        <p:xfrm>
          <a:off x="646544" y="1125333"/>
          <a:ext cx="4572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956018"/>
              </p:ext>
            </p:extLst>
          </p:nvPr>
        </p:nvGraphicFramePr>
        <p:xfrm>
          <a:off x="5866014" y="1162215"/>
          <a:ext cx="5239212" cy="30112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24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34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36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37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20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Model</a:t>
                      </a:r>
                      <a:endParaRPr lang="en-IN" sz="1600" dirty="0">
                        <a:effectLst/>
                        <a:latin typeface="Georgia" panose="02040502050405020303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CER</a:t>
                      </a:r>
                      <a:endParaRPr lang="en-IN" sz="1600" dirty="0">
                        <a:effectLst/>
                        <a:latin typeface="Georgia" panose="02040502050405020303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WER</a:t>
                      </a:r>
                      <a:endParaRPr lang="en-IN" sz="1600" dirty="0">
                        <a:effectLst/>
                        <a:latin typeface="Georgia" panose="02040502050405020303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Field Accuracy</a:t>
                      </a:r>
                      <a:endParaRPr lang="en-IN" sz="1600" dirty="0">
                        <a:effectLst/>
                        <a:latin typeface="Georgia" panose="02040502050405020303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Final Score</a:t>
                      </a:r>
                      <a:endParaRPr lang="en-IN" sz="1600" dirty="0">
                        <a:effectLst/>
                        <a:latin typeface="Georgia" panose="02040502050405020303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0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YOLO + Tesseract</a:t>
                      </a:r>
                      <a:endParaRPr lang="en-IN" sz="1600" dirty="0">
                        <a:effectLst/>
                        <a:latin typeface="Georgia" panose="02040502050405020303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72.54</a:t>
                      </a:r>
                      <a:endParaRPr lang="en-IN" sz="1600" dirty="0">
                        <a:effectLst/>
                        <a:latin typeface="Georgia" panose="02040502050405020303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159.32</a:t>
                      </a:r>
                      <a:endParaRPr lang="en-IN" sz="1600" dirty="0">
                        <a:effectLst/>
                        <a:latin typeface="Georgia" panose="02040502050405020303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2.24</a:t>
                      </a:r>
                      <a:endParaRPr lang="en-IN" sz="1600" dirty="0">
                        <a:effectLst/>
                        <a:latin typeface="Georgia" panose="02040502050405020303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-10.81</a:t>
                      </a:r>
                      <a:endParaRPr lang="en-IN" sz="1600">
                        <a:effectLst/>
                        <a:latin typeface="Georgia" panose="02040502050405020303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0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YOLO + Custom OCR</a:t>
                      </a:r>
                      <a:endParaRPr lang="en-IN" sz="1600">
                        <a:effectLst/>
                        <a:latin typeface="Georgia" panose="02040502050405020303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37.58</a:t>
                      </a:r>
                      <a:endParaRPr lang="en-IN" sz="1600" dirty="0">
                        <a:effectLst/>
                        <a:latin typeface="Georgia" panose="02040502050405020303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46.93</a:t>
                      </a:r>
                      <a:endParaRPr lang="en-IN" sz="1600" dirty="0">
                        <a:effectLst/>
                        <a:latin typeface="Georgia" panose="02040502050405020303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62.58</a:t>
                      </a:r>
                      <a:endParaRPr lang="en-IN" sz="1600" dirty="0">
                        <a:effectLst/>
                        <a:latin typeface="Georgia" panose="02040502050405020303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40.51</a:t>
                      </a:r>
                      <a:endParaRPr lang="en-IN" sz="1600" dirty="0">
                        <a:effectLst/>
                        <a:latin typeface="Georgia" panose="02040502050405020303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0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YOLO + TrOCR</a:t>
                      </a:r>
                      <a:endParaRPr lang="en-IN" sz="1600">
                        <a:effectLst/>
                        <a:latin typeface="Georgia" panose="02040502050405020303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29.79</a:t>
                      </a:r>
                      <a:endParaRPr lang="en-IN" sz="1600" dirty="0">
                        <a:effectLst/>
                        <a:latin typeface="Georgia" panose="02040502050405020303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114.12</a:t>
                      </a:r>
                      <a:endParaRPr lang="en-IN" sz="1600" dirty="0">
                        <a:effectLst/>
                        <a:latin typeface="Georgia" panose="02040502050405020303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6.27</a:t>
                      </a:r>
                      <a:endParaRPr lang="en-IN" sz="1600" dirty="0">
                        <a:effectLst/>
                        <a:latin typeface="Georgia" panose="02040502050405020303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20.56</a:t>
                      </a:r>
                      <a:endParaRPr lang="en-IN" sz="1600" dirty="0">
                        <a:effectLst/>
                        <a:latin typeface="Georgia" panose="02040502050405020303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321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</a:rPr>
                        <a:t>YOLO + </a:t>
                      </a:r>
                      <a:r>
                        <a:rPr lang="en-US" sz="1600" b="1" dirty="0" err="1">
                          <a:effectLst/>
                        </a:rPr>
                        <a:t>TrOCR</a:t>
                      </a:r>
                      <a:r>
                        <a:rPr lang="en-US" sz="1600" b="1" dirty="0">
                          <a:effectLst/>
                        </a:rPr>
                        <a:t> + Layout Aware Post Processing</a:t>
                      </a:r>
                      <a:endParaRPr lang="en-IN" sz="1600" b="1" dirty="0">
                        <a:effectLst/>
                        <a:latin typeface="Georgia" panose="02040502050405020303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</a:rPr>
                        <a:t>15.82</a:t>
                      </a:r>
                      <a:endParaRPr lang="en-IN" sz="1600" b="1">
                        <a:effectLst/>
                        <a:latin typeface="Georgia" panose="02040502050405020303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</a:rPr>
                        <a:t>41.62</a:t>
                      </a:r>
                      <a:endParaRPr lang="en-IN" sz="1600" b="1" dirty="0">
                        <a:effectLst/>
                        <a:latin typeface="Georgia" panose="02040502050405020303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</a:rPr>
                        <a:t>47.52</a:t>
                      </a:r>
                      <a:endParaRPr lang="en-IN" sz="1600" b="1" dirty="0">
                        <a:effectLst/>
                        <a:latin typeface="Georgia" panose="02040502050405020303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</a:rPr>
                        <a:t>57.02</a:t>
                      </a:r>
                      <a:endParaRPr lang="en-IN" sz="1600" b="1" dirty="0">
                        <a:effectLst/>
                        <a:latin typeface="Georgia" panose="02040502050405020303" pitchFamily="18" charset="0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8926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561590"/>
            <a:ext cx="12192000" cy="2964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0845800" cy="503263"/>
          </a:xfrm>
        </p:spPr>
        <p:txBody>
          <a:bodyPr>
            <a:normAutofit/>
          </a:bodyPr>
          <a:lstStyle/>
          <a:p>
            <a:r>
              <a:rPr lang="en-IN" sz="3000" b="1" dirty="0"/>
              <a:t>Final Results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426720" y="6475178"/>
            <a:ext cx="1176528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18068" y="6561590"/>
            <a:ext cx="1523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DeHaDo</a:t>
            </a:r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-AI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31574" y="6571295"/>
            <a:ext cx="18934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NCVPRIPG 2025, IIT Jammu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7549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Isosceles Triangle 9"/>
          <p:cNvSpPr/>
          <p:nvPr/>
        </p:nvSpPr>
        <p:spPr>
          <a:xfrm rot="5400000">
            <a:off x="-726" y="6171660"/>
            <a:ext cx="428171" cy="426720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18" y="6052414"/>
            <a:ext cx="432000" cy="432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7925" y="6218234"/>
            <a:ext cx="258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1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6BBF3BAB-B971-ED80-9613-D3B8849403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9676024"/>
              </p:ext>
            </p:extLst>
          </p:nvPr>
        </p:nvGraphicFramePr>
        <p:xfrm>
          <a:off x="675322" y="1463040"/>
          <a:ext cx="5568314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83EC7115-C3EB-A3C4-7D04-8EC148A0C8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5204179"/>
              </p:ext>
            </p:extLst>
          </p:nvPr>
        </p:nvGraphicFramePr>
        <p:xfrm>
          <a:off x="6243636" y="1463040"/>
          <a:ext cx="5283345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582224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8F36C-C174-3DD7-2982-101F54D0D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9A2C73-CFA3-41DE-5168-A2A6C647DEAD}"/>
              </a:ext>
            </a:extLst>
          </p:cNvPr>
          <p:cNvSpPr/>
          <p:nvPr/>
        </p:nvSpPr>
        <p:spPr>
          <a:xfrm>
            <a:off x="0" y="6561590"/>
            <a:ext cx="12192000" cy="2964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3C2AE1-A44E-5914-D4F4-6E36292BB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65126"/>
            <a:ext cx="10845800" cy="503263"/>
          </a:xfrm>
        </p:spPr>
        <p:txBody>
          <a:bodyPr>
            <a:normAutofit/>
          </a:bodyPr>
          <a:lstStyle/>
          <a:p>
            <a:r>
              <a:rPr lang="en-IN" sz="3000" b="1" dirty="0"/>
              <a:t>Challenges and Learnings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BB96A-D0E1-08E9-EDE7-DF9A371DF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544" y="954800"/>
            <a:ext cx="11139055" cy="5222163"/>
          </a:xfrm>
        </p:spPr>
        <p:txBody>
          <a:bodyPr>
            <a:normAutofit/>
          </a:bodyPr>
          <a:lstStyle/>
          <a:p>
            <a:r>
              <a:rPr lang="en-IN" sz="1800" dirty="0"/>
              <a:t>Problem Statement</a:t>
            </a:r>
            <a:endParaRPr lang="en-IN" sz="14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D19FF27-F64A-CF0B-91CB-C13021FE972A}"/>
              </a:ext>
            </a:extLst>
          </p:cNvPr>
          <p:cNvCxnSpPr/>
          <p:nvPr/>
        </p:nvCxnSpPr>
        <p:spPr>
          <a:xfrm>
            <a:off x="426720" y="6475178"/>
            <a:ext cx="1176528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F72EF21-4C2A-2620-22E1-E5A640ED9D9F}"/>
              </a:ext>
            </a:extLst>
          </p:cNvPr>
          <p:cNvSpPr txBox="1"/>
          <p:nvPr/>
        </p:nvSpPr>
        <p:spPr>
          <a:xfrm>
            <a:off x="318068" y="6561590"/>
            <a:ext cx="1523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DeHaDo</a:t>
            </a:r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-AI Challenge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1C16D0-D201-BB8B-3102-DF2941AC1B79}"/>
              </a:ext>
            </a:extLst>
          </p:cNvPr>
          <p:cNvSpPr txBox="1"/>
          <p:nvPr/>
        </p:nvSpPr>
        <p:spPr>
          <a:xfrm>
            <a:off x="10231574" y="6571295"/>
            <a:ext cx="18934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NCVPRIPG 2025, IIT Jammu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2694A4-31A0-8726-B890-3C87A815E37D}"/>
              </a:ext>
            </a:extLst>
          </p:cNvPr>
          <p:cNvSpPr/>
          <p:nvPr/>
        </p:nvSpPr>
        <p:spPr>
          <a:xfrm>
            <a:off x="0" y="0"/>
            <a:ext cx="12192000" cy="17549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658A8C5A-03E0-A69C-7952-458D1B7C4F35}"/>
              </a:ext>
            </a:extLst>
          </p:cNvPr>
          <p:cNvSpPr/>
          <p:nvPr/>
        </p:nvSpPr>
        <p:spPr>
          <a:xfrm rot="5400000">
            <a:off x="-726" y="6171660"/>
            <a:ext cx="428171" cy="426720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3CCA8E-00DC-4573-B193-E5662698E46C}"/>
              </a:ext>
            </a:extLst>
          </p:cNvPr>
          <p:cNvCxnSpPr/>
          <p:nvPr/>
        </p:nvCxnSpPr>
        <p:spPr>
          <a:xfrm>
            <a:off x="1218" y="6052414"/>
            <a:ext cx="432000" cy="432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BE20197-01FC-20ED-C603-BA5F555E0C88}"/>
              </a:ext>
            </a:extLst>
          </p:cNvPr>
          <p:cNvSpPr txBox="1"/>
          <p:nvPr/>
        </p:nvSpPr>
        <p:spPr>
          <a:xfrm>
            <a:off x="387925" y="6218234"/>
            <a:ext cx="258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12777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561590"/>
            <a:ext cx="12192000" cy="2964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0845800" cy="503263"/>
          </a:xfrm>
        </p:spPr>
        <p:txBody>
          <a:bodyPr>
            <a:normAutofit/>
          </a:bodyPr>
          <a:lstStyle/>
          <a:p>
            <a:r>
              <a:rPr lang="en-IN" sz="3000" b="1" dirty="0"/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544" y="954800"/>
            <a:ext cx="11139055" cy="5222163"/>
          </a:xfrm>
        </p:spPr>
        <p:txBody>
          <a:bodyPr>
            <a:normAutofit/>
          </a:bodyPr>
          <a:lstStyle/>
          <a:p>
            <a:r>
              <a:rPr lang="en-IN" sz="1800" dirty="0"/>
              <a:t>Problem Statement</a:t>
            </a:r>
            <a:endParaRPr lang="en-IN" sz="1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426720" y="6475178"/>
            <a:ext cx="1176528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18068" y="6561590"/>
            <a:ext cx="1523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DeHaDo</a:t>
            </a:r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-AI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31574" y="6571295"/>
            <a:ext cx="18934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NCVPRIPG 2025, IIT Jammu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7549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Isosceles Triangle 9"/>
          <p:cNvSpPr/>
          <p:nvPr/>
        </p:nvSpPr>
        <p:spPr>
          <a:xfrm rot="5400000">
            <a:off x="-726" y="6171660"/>
            <a:ext cx="428171" cy="426720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18" y="6052414"/>
            <a:ext cx="432000" cy="432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7925" y="6218234"/>
            <a:ext cx="258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14433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561590"/>
            <a:ext cx="12192000" cy="2964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0845800" cy="503263"/>
          </a:xfrm>
        </p:spPr>
        <p:txBody>
          <a:bodyPr>
            <a:normAutofit/>
          </a:bodyPr>
          <a:lstStyle/>
          <a:p>
            <a:r>
              <a:rPr lang="en-IN" sz="3000" b="1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544" y="954800"/>
            <a:ext cx="11139055" cy="5222163"/>
          </a:xfrm>
        </p:spPr>
        <p:txBody>
          <a:bodyPr>
            <a:normAutofit/>
          </a:bodyPr>
          <a:lstStyle/>
          <a:p>
            <a:r>
              <a:rPr lang="en-IN" sz="1800" dirty="0"/>
              <a:t>Problem Statement</a:t>
            </a:r>
            <a:endParaRPr lang="en-IN" sz="1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426720" y="6475178"/>
            <a:ext cx="1176528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18068" y="6561590"/>
            <a:ext cx="1523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DeHaDo</a:t>
            </a:r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-AI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31574" y="6571295"/>
            <a:ext cx="18934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cs typeface="Times New Roman" panose="02020603050405020304" pitchFamily="18" charset="0"/>
              </a:rPr>
              <a:t>NCVPRIPG 2025, IIT Jammu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7549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Isosceles Triangle 9"/>
          <p:cNvSpPr/>
          <p:nvPr/>
        </p:nvSpPr>
        <p:spPr>
          <a:xfrm rot="5400000">
            <a:off x="-726" y="6171660"/>
            <a:ext cx="428171" cy="426720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18" y="6052414"/>
            <a:ext cx="432000" cy="4320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7925" y="6218234"/>
            <a:ext cx="258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76276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16116</TotalTime>
  <Words>457</Words>
  <Application>Microsoft Office PowerPoint</Application>
  <PresentationFormat>Widescreen</PresentationFormat>
  <Paragraphs>210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Cambria</vt:lpstr>
      <vt:lpstr>Georgia</vt:lpstr>
      <vt:lpstr>Times New Roman</vt:lpstr>
      <vt:lpstr>Wingdings</vt:lpstr>
      <vt:lpstr>Office Theme</vt:lpstr>
      <vt:lpstr>Handwritten Form Recognition using YOLO and TrOCR with Layout Aware Error Correction</vt:lpstr>
      <vt:lpstr>Agenda</vt:lpstr>
      <vt:lpstr>Team Introduction</vt:lpstr>
      <vt:lpstr>Problem Statement</vt:lpstr>
      <vt:lpstr>Related Work</vt:lpstr>
      <vt:lpstr>Dataset Overview</vt:lpstr>
      <vt:lpstr>Model Architecture</vt:lpstr>
      <vt:lpstr>Field Detection Model</vt:lpstr>
      <vt:lpstr>Field Detection Model: YOLO</vt:lpstr>
      <vt:lpstr>Field Detection Model: YOLO Results</vt:lpstr>
      <vt:lpstr>Field Matching</vt:lpstr>
      <vt:lpstr>OCR Model</vt:lpstr>
      <vt:lpstr>OCR Results</vt:lpstr>
      <vt:lpstr>Layout Aware Error Correction</vt:lpstr>
      <vt:lpstr>Benchmarks</vt:lpstr>
      <vt:lpstr>Final Results</vt:lpstr>
      <vt:lpstr>Final Results</vt:lpstr>
      <vt:lpstr>Challenges and Learnings</vt:lpstr>
      <vt:lpstr>Future Work</vt:lpstr>
      <vt:lpstr>Agenda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Powered Technological Advancements in Industrial Systems</dc:title>
  <dc:creator>Muthukumar G</dc:creator>
  <cp:lastModifiedBy>manju.sathasivam@outlook.com</cp:lastModifiedBy>
  <cp:revision>320</cp:revision>
  <dcterms:created xsi:type="dcterms:W3CDTF">2025-05-06T11:45:32Z</dcterms:created>
  <dcterms:modified xsi:type="dcterms:W3CDTF">2025-07-17T16:52:32Z</dcterms:modified>
</cp:coreProperties>
</file>